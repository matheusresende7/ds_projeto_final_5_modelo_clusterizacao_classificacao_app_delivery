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60" r:id="rId3"/>
    <p:sldId id="286" r:id="rId4"/>
    <p:sldId id="299" r:id="rId5"/>
    <p:sldId id="268" r:id="rId6"/>
    <p:sldId id="280" r:id="rId7"/>
    <p:sldId id="297" r:id="rId8"/>
    <p:sldId id="298" r:id="rId9"/>
    <p:sldId id="289" r:id="rId10"/>
    <p:sldId id="291" r:id="rId11"/>
    <p:sldId id="296" r:id="rId12"/>
    <p:sldId id="295" r:id="rId13"/>
    <p:sldId id="293" r:id="rId14"/>
    <p:sldId id="288" r:id="rId15"/>
    <p:sldId id="277" r:id="rId16"/>
    <p:sldId id="294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6200"/>
    <a:srgbClr val="2E3191"/>
    <a:srgbClr val="F24405"/>
    <a:srgbClr val="7C87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D86061-CDA7-43D1-A737-000F3D361F45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2764-3A66-45C4-8655-E73B4DFA8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91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3D4F7ED4-502F-9617-BCB2-B48D34CA4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F6E7AF9A-F339-A065-99D7-373493B812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20983D6D-582A-0AFD-5EC0-E865A562B7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3870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7B7D222C-758E-13C8-3E01-D1E7D13E5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3D42C1C6-229E-6EE0-0FC6-7E381163E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B424AD6B-8B31-0063-B2E1-D49173E634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3154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2ABEB43A-B9E7-1AF1-D55C-EE2529A9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55BBD14F-03F2-40C2-BCF7-0363E8C31C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A637B44A-C770-7268-2B2F-1AB167F9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69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88AB50-D3E7-CF32-22B4-A3B1F5D5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0E1C61C6-B1A3-D855-FF4E-578AA5473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6D0A641C-6EDF-378D-AB3C-E1BDEA910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33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BBAA358A-D73D-B656-D66D-DD9E73D3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A8D77D03-ABF6-E25D-F6DE-E8F0037A4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53CA217D-4B83-099E-075A-F5C8634D9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480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BBAA358A-D73D-B656-D66D-DD9E73D3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A8D77D03-ABF6-E25D-F6DE-E8F0037A4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53CA217D-4B83-099E-075A-F5C8634D9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7480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C5D4E2AF-A814-6EB3-5353-EB418982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B7CDAFF9-8965-DFC8-A350-E3E53BBD3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FE002EBD-E3F8-DFD5-A644-AC8B6E3DC8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8575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00EAA975-2AED-D23A-1EB3-BDB989AE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CD71A388-375B-2DA8-3AEC-19ED45223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036298E4-091E-4CF2-6561-B1730BC31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88299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643501F6-47E5-6C0F-5B74-D0C6C440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0F363E09-1578-AFE1-B942-DEC2D7B5E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F816E519-FC9A-B433-B331-53105B889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620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95E7F6BD-C20E-D715-3222-7B4322AAF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A9738F8D-3176-DBE1-682D-E46A33FC2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0E9EED9C-CC0E-BEE5-DC12-DFA5A379F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2641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E88AB50-D3E7-CF32-22B4-A3B1F5D5A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0E1C61C6-B1A3-D855-FF4E-578AA5473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6D0A641C-6EDF-378D-AB3C-E1BDEA9101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633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F5DD3144-2BE0-7D72-F813-D093E21A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6A9BE40A-4EA2-3BEA-693D-AA90ABEA1B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69CB0EEF-80F6-2BD2-7506-6CAE98F8C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3447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>
          <a:extLst>
            <a:ext uri="{FF2B5EF4-FFF2-40B4-BE49-F238E27FC236}">
              <a16:creationId xmlns:a16="http://schemas.microsoft.com/office/drawing/2014/main" id="{C0566297-27EA-74FA-9EF1-4EEEBCD4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>
            <a:extLst>
              <a:ext uri="{FF2B5EF4-FFF2-40B4-BE49-F238E27FC236}">
                <a16:creationId xmlns:a16="http://schemas.microsoft.com/office/drawing/2014/main" id="{5723BBCD-F73A-2CE7-EF0D-9059DFCEAE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:notes">
            <a:extLst>
              <a:ext uri="{FF2B5EF4-FFF2-40B4-BE49-F238E27FC236}">
                <a16:creationId xmlns:a16="http://schemas.microsoft.com/office/drawing/2014/main" id="{309736FD-2B66-28D4-3223-D56B40695F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5585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9F006-150E-08C9-D44F-47344F12C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B6D8E9-164C-84C0-F34C-049415513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934FD-8676-7399-4E05-1EC88DB0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4755EE-AEFF-72B1-901C-0A2FE9784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D7968A-D3D1-6A5C-E624-B11C1BE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43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4C127-01BD-2BC0-E521-E87EC6F0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D2908-BA5A-87C2-FEA2-C6A0A467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2ADFAB-51B1-127C-3B57-39623274A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5E24F6-C892-1E26-11FE-D7F03CA8A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240E27-28CE-5705-5BFE-3C519CAB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05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CD33-5674-8A0B-D706-6272A076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FC65D-DB26-7453-8B96-FBCD29C0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21A061-AB3F-DBD4-3C60-409D67BA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241DF3-F9C1-D7ED-9289-C7BB1E56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745F4A-5C85-69DC-5537-56CBE32C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6438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0E137-0306-D3D5-9A03-E7E2A13A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D36339-34C0-DEAF-855B-EAC4EC3A0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09FBF98-0395-3873-0A96-2DB750622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D881C1-26EA-EBC4-7E5F-88919ADE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112050-9E18-0E47-0148-F51D29D0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A94843-06E8-6480-A4ED-1372AB1B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763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3B077-4EB0-31E1-AF81-3E270949F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3F3E74-C8C6-9335-B9E5-0A1FC944A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17D436-18A2-F047-C47F-04AE08D2D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30E1A23-D106-FD0A-8FF5-5D2ECE7BC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CC7F57-79B1-C902-D389-6C914A86E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62343E7-2AA5-FCCE-C5F0-B46D3AA23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DCE5099-B4B4-C604-84C4-993A3DA2D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33246C-A8D1-06C5-CDE1-36FE92A5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34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BF287-64F4-1627-D156-5B792C33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06EB98-7F63-3587-D7BE-C49B0F50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187A00-0EE0-4F48-1450-6380DEB87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34E702-E4E5-7F91-1B64-7E8C44E8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25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3E0B547-C514-DC6D-F05F-027A03AE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A1337A-B844-A19D-7A84-D8087F7B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7E2AE4-1184-4767-CE98-087E6169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77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0E978-8307-CDDD-7C55-3C663FEDD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F90401-2454-2269-3A15-DDBE0A56D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C015BD-9656-054E-FA1A-0A1466F67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0066B8-19F2-DF1C-7807-20707424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2B2E67-1497-FA91-08E0-E679DC2C3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930E1C-7F6D-94FB-78C7-8E8E8334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778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2BBC21-2D24-282E-C37E-8306E3A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5F7E118-DE30-92A3-F5BD-D3E4EFB10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2C1EB7-493B-F373-D018-13D1CE76F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6FCF3-A732-2B75-3B83-2C967B29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17F43B-13E8-845D-737E-343F1A5B7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0BB0E7-E67C-0222-9BD5-7981019E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54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DE0E6-2112-999C-721D-CFD482F8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689B77-F050-C369-646F-F606D7B51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D2D848-8044-1767-E0FA-463C8BA0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9774C-DAA4-13E2-23CD-068874A0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69E89A-0AF3-3EBA-3BC9-D2A45B9D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625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EDC887-075C-A1DF-0955-9BC1B256D2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7E7FCB-8198-582C-0892-E23219FFE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DD1435-26FF-B73A-B993-352DD290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69B595-081F-BC27-7A72-BEAF0023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59D775-9FE5-1E51-79F5-F23ADE064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54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5C5490D-DDFD-720B-757F-D30F8CC3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AFB1E-44FD-5936-EB75-B8A1B1690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53D116-982B-0EB3-281D-D88C14EBAF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7EB7-7DA4-499B-A06C-99EC1B6A3570}" type="datetimeFigureOut">
              <a:rPr lang="pt-BR" smtClean="0"/>
              <a:t>05/12/25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F6C26B6-1506-4517-7765-D413A4AB1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C073AA-AA0B-4776-BAC2-7994AD743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F7D5F7-71F1-4DCC-AC34-01FF6C0B36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200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7" r="9328"/>
          <a:stretch>
            <a:fillRect/>
          </a:stretch>
        </p:blipFill>
        <p:spPr>
          <a:xfrm>
            <a:off x="0" y="-2677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"/>
          <p:cNvSpPr/>
          <p:nvPr/>
        </p:nvSpPr>
        <p:spPr>
          <a:xfrm>
            <a:off x="0" y="0"/>
            <a:ext cx="10101560" cy="6858000"/>
          </a:xfrm>
          <a:custGeom>
            <a:avLst/>
            <a:gdLst/>
            <a:ahLst/>
            <a:cxnLst/>
            <a:rect l="l" t="t" r="r" b="b"/>
            <a:pathLst>
              <a:path w="10101560" h="6858000" extrusionOk="0">
                <a:moveTo>
                  <a:pt x="0" y="0"/>
                </a:moveTo>
                <a:lnTo>
                  <a:pt x="10101560" y="0"/>
                </a:lnTo>
                <a:lnTo>
                  <a:pt x="6632471" y="3469090"/>
                </a:lnTo>
                <a:lnTo>
                  <a:pt x="1002138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93;p2">
            <a:extLst>
              <a:ext uri="{FF2B5EF4-FFF2-40B4-BE49-F238E27FC236}">
                <a16:creationId xmlns:a16="http://schemas.microsoft.com/office/drawing/2014/main" id="{3DDD2056-7A60-10B6-768E-B66AF7DEF6E6}"/>
              </a:ext>
            </a:extLst>
          </p:cNvPr>
          <p:cNvSpPr txBox="1"/>
          <p:nvPr/>
        </p:nvSpPr>
        <p:spPr>
          <a:xfrm>
            <a:off x="614213" y="2978751"/>
            <a:ext cx="562032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Black"/>
                <a:ea typeface="Poppins Black"/>
                <a:cs typeface="Poppins Black"/>
                <a:sym typeface="Poppins Black"/>
              </a:rPr>
              <a:t>CIÊNCIA</a:t>
            </a:r>
            <a:r>
              <a:rPr lang="pt-BR" sz="720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Black"/>
                <a:ea typeface="Poppins Black"/>
                <a:cs typeface="Poppins Black"/>
                <a:sym typeface="Poppins Black"/>
              </a:rPr>
              <a:t> DE DADOS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2" name="Google Shape;92;p2"/>
          <p:cNvSpPr/>
          <p:nvPr/>
        </p:nvSpPr>
        <p:spPr>
          <a:xfrm rot="-2700000">
            <a:off x="9779462" y="-2028870"/>
            <a:ext cx="3001724" cy="5907966"/>
          </a:xfrm>
          <a:custGeom>
            <a:avLst/>
            <a:gdLst>
              <a:gd name="connsiteX0" fmla="*/ 0 w 3001724"/>
              <a:gd name="connsiteY0" fmla="*/ 0 h 5907966"/>
              <a:gd name="connsiteX1" fmla="*/ 3001724 w 3001724"/>
              <a:gd name="connsiteY1" fmla="*/ 0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  <a:gd name="connsiteX0" fmla="*/ 0 w 3001724"/>
              <a:gd name="connsiteY0" fmla="*/ 0 h 5907966"/>
              <a:gd name="connsiteX1" fmla="*/ 3001724 w 3001724"/>
              <a:gd name="connsiteY1" fmla="*/ 3027162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  <a:gd name="connsiteX0" fmla="*/ 0 w 3001724"/>
              <a:gd name="connsiteY0" fmla="*/ 0 h 5907966"/>
              <a:gd name="connsiteX1" fmla="*/ 3001724 w 3001724"/>
              <a:gd name="connsiteY1" fmla="*/ 3027162 h 5907966"/>
              <a:gd name="connsiteX2" fmla="*/ 3001724 w 3001724"/>
              <a:gd name="connsiteY2" fmla="*/ 5907966 h 5907966"/>
              <a:gd name="connsiteX3" fmla="*/ 0 w 3001724"/>
              <a:gd name="connsiteY3" fmla="*/ 5907966 h 5907966"/>
              <a:gd name="connsiteX4" fmla="*/ 0 w 3001724"/>
              <a:gd name="connsiteY4" fmla="*/ 0 h 5907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1724" h="5907966">
                <a:moveTo>
                  <a:pt x="0" y="0"/>
                </a:moveTo>
                <a:lnTo>
                  <a:pt x="3001724" y="3027162"/>
                </a:lnTo>
                <a:lnTo>
                  <a:pt x="3001724" y="5907966"/>
                </a:lnTo>
                <a:lnTo>
                  <a:pt x="0" y="5907966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14214" y="5362858"/>
            <a:ext cx="615026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7F7F7F"/>
                </a:solidFill>
                <a:latin typeface="Montserrat" pitchFamily="2" charset="0"/>
                <a:ea typeface="Poppins"/>
                <a:cs typeface="Poppins"/>
                <a:sym typeface="Poppins"/>
              </a:rPr>
              <a:t>MODELOS DE CLUSTERIZAÇÃO E CLASSIFICAÇÃO</a:t>
            </a:r>
            <a:endParaRPr lang="pt-BR" sz="1600" cap="none" dirty="0">
              <a:solidFill>
                <a:srgbClr val="7F7F7F"/>
              </a:solidFill>
              <a:latin typeface="Montserrat" pitchFamily="2" charset="0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rgbClr val="7F7F7F"/>
                </a:solidFill>
                <a:latin typeface="Montserrat" pitchFamily="2" charset="0"/>
                <a:cs typeface="Poppins"/>
                <a:sym typeface="Poppins"/>
              </a:rPr>
              <a:t>Por Matheus Resende</a:t>
            </a:r>
            <a:endParaRPr b="1" dirty="0">
              <a:latin typeface="Montserrat" pitchFamily="2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80183DE-F1D5-3344-FB55-F9AE902FA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144" y="460475"/>
            <a:ext cx="1800000" cy="180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2DBAC58-BB43-EDB3-1140-DA3B1AAEA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17010" y="460475"/>
            <a:ext cx="1800000" cy="18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/>
          <p:cNvPicPr preferRelativeResize="0"/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9" r="18489"/>
          <a:stretch/>
        </p:blipFill>
        <p:spPr>
          <a:xfrm>
            <a:off x="3952042" y="0"/>
            <a:ext cx="8643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0" y="0"/>
            <a:ext cx="10788444" cy="6858000"/>
          </a:xfrm>
          <a:custGeom>
            <a:avLst/>
            <a:gdLst/>
            <a:ahLst/>
            <a:cxnLst/>
            <a:rect l="l" t="t" r="r" b="b"/>
            <a:pathLst>
              <a:path w="10788444" h="6858000" extrusionOk="0">
                <a:moveTo>
                  <a:pt x="0" y="0"/>
                </a:moveTo>
                <a:lnTo>
                  <a:pt x="3930444" y="0"/>
                </a:lnTo>
                <a:lnTo>
                  <a:pt x="107884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5"/>
          <p:cNvSpPr/>
          <p:nvPr/>
        </p:nvSpPr>
        <p:spPr>
          <a:xfrm rot="-2700000">
            <a:off x="7070723" y="3858345"/>
            <a:ext cx="7406645" cy="3864826"/>
          </a:xfrm>
          <a:custGeom>
            <a:avLst/>
            <a:gdLst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0 w 7406645"/>
              <a:gd name="connsiteY3" fmla="*/ 3864826 h 3864826"/>
              <a:gd name="connsiteX4" fmla="*/ 0 w 7406645"/>
              <a:gd name="connsiteY4" fmla="*/ 0 h 3864826"/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3908860 w 7406645"/>
              <a:gd name="connsiteY3" fmla="*/ 3850131 h 3864826"/>
              <a:gd name="connsiteX4" fmla="*/ 0 w 7406645"/>
              <a:gd name="connsiteY4" fmla="*/ 0 h 38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06645" h="3864826">
                <a:moveTo>
                  <a:pt x="0" y="0"/>
                </a:moveTo>
                <a:lnTo>
                  <a:pt x="7406645" y="0"/>
                </a:lnTo>
                <a:lnTo>
                  <a:pt x="7406645" y="3864826"/>
                </a:lnTo>
                <a:lnTo>
                  <a:pt x="3908860" y="3850131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1082073" y="1860026"/>
            <a:ext cx="4541520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Criar 2 modelos de machine learning aplicados a uma plataforma de delivery, aplicando conceitos de estatística, programação e análise e ciência de dados. O objetivo do 1º é realizar a segmentação de clientes para campanhas de marketing. Já o 2º utiliza como base a segmentação realizada pelo 1º para prever os clientes mais propensos a aceitar futuras campanhas.</a:t>
            </a:r>
          </a:p>
        </p:txBody>
      </p:sp>
      <p:sp>
        <p:nvSpPr>
          <p:cNvPr id="157" name="Google Shape;157;p5"/>
          <p:cNvSpPr txBox="1">
            <a:spLocks noGrp="1"/>
          </p:cNvSpPr>
          <p:nvPr>
            <p:ph type="title"/>
          </p:nvPr>
        </p:nvSpPr>
        <p:spPr>
          <a:xfrm>
            <a:off x="1092200" y="1089025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Objetivo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11727" y="1147362"/>
            <a:ext cx="78047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01</a:t>
            </a:r>
            <a:endParaRPr sz="1600" dirty="0">
              <a:solidFill>
                <a:srgbClr val="FF62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2E92F16A-449F-CCC9-B0D2-787A449FE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97CA3EDC-FD29-D59D-3034-4389AA1C0A06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62963D15-EB67-79C2-5429-DC70C7C9B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Introdução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E3C8E04F-C5DD-8B27-AEF6-F89596747590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02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156;p5">
            <a:extLst>
              <a:ext uri="{FF2B5EF4-FFF2-40B4-BE49-F238E27FC236}">
                <a16:creationId xmlns:a16="http://schemas.microsoft.com/office/drawing/2014/main" id="{E9D792B6-F1E6-4CEB-8AD1-BE32389EF73E}"/>
              </a:ext>
            </a:extLst>
          </p:cNvPr>
          <p:cNvSpPr txBox="1"/>
          <p:nvPr/>
        </p:nvSpPr>
        <p:spPr>
          <a:xfrm>
            <a:off x="1082072" y="1860026"/>
            <a:ext cx="9715405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A segmentação de clientes é um dos pilares para o sucesso das plataformas de delivery, onde a variedade de perfis de consumidores e de estabelecimentos parceiros exige uma comunicação altamente direcionada. 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Modelos de machine learning podem analisar o histórico de pedidos, frequência de compras e preferências culinárias para identificar padrões de comportamento e criar grupos de clientes com características semelhantes.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Essa abordagem permite que as campanhas de marketing sejam mais relevantes, oferecendo recomendações de restaurantes e promoções personalizadas que aumentam o engajamento e a taxa de conversão dos clientes.</a:t>
            </a: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0D15E30D-5155-5E95-88BD-2539629EF98C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294;p8">
            <a:extLst>
              <a:ext uri="{FF2B5EF4-FFF2-40B4-BE49-F238E27FC236}">
                <a16:creationId xmlns:a16="http://schemas.microsoft.com/office/drawing/2014/main" id="{05D69DD6-5944-FB4B-A91A-80B81C272607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774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FF137F56-877D-5F35-B611-5CC6A52BB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70;p8">
            <a:extLst>
              <a:ext uri="{FF2B5EF4-FFF2-40B4-BE49-F238E27FC236}">
                <a16:creationId xmlns:a16="http://schemas.microsoft.com/office/drawing/2014/main" id="{53838AC7-E4D6-5471-C47D-A1800C4610BD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1F36BF94-7C21-0266-B6C8-CD0B48EA8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Insights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1A6B3160-3FEA-1401-F2A9-0A66805A6E18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03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293;p8">
            <a:extLst>
              <a:ext uri="{FF2B5EF4-FFF2-40B4-BE49-F238E27FC236}">
                <a16:creationId xmlns:a16="http://schemas.microsoft.com/office/drawing/2014/main" id="{329A18D9-EEA9-6FFC-EBE0-BBD09CD0C22A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C94785C7-8253-0E5A-3C4B-61FDAED61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791514"/>
              </p:ext>
            </p:extLst>
          </p:nvPr>
        </p:nvGraphicFramePr>
        <p:xfrm>
          <a:off x="1225550" y="1818409"/>
          <a:ext cx="9740900" cy="46006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225">
                  <a:extLst>
                    <a:ext uri="{9D8B030D-6E8A-4147-A177-3AD203B41FA5}">
                      <a16:colId xmlns:a16="http://schemas.microsoft.com/office/drawing/2014/main" val="824568556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3999905627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3024285835"/>
                    </a:ext>
                  </a:extLst>
                </a:gridCol>
                <a:gridCol w="2435225">
                  <a:extLst>
                    <a:ext uri="{9D8B030D-6E8A-4147-A177-3AD203B41FA5}">
                      <a16:colId xmlns:a16="http://schemas.microsoft.com/office/drawing/2014/main" val="2419183838"/>
                    </a:ext>
                  </a:extLst>
                </a:gridCol>
              </a:tblGrid>
              <a:tr h="2532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Grupo 1</a:t>
                      </a:r>
                    </a:p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Clientes que aceitam mais campanhas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7C87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Grupo 2</a:t>
                      </a:r>
                    </a:p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Clientes que aceitam menos campanhas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F2440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263641"/>
                  </a:ext>
                </a:extLst>
              </a:tr>
              <a:tr h="25325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Qualitativo</a:t>
                      </a:r>
                      <a:endParaRPr lang="pt-BR" sz="1100" b="1" i="0" u="none" strike="noStrike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7C8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Quantitativo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7C8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Qualitativo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F2440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Quantitativo</a:t>
                      </a:r>
                      <a:endParaRPr lang="pt-BR" sz="11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F244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11695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Renda média alta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Renda &gt;= 51.287,00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Renda média baixa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Renda &lt; 51.287,00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599908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Faz mais compras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Compras &gt;= 12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Faz menos compras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Compras &lt; 12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35640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Gasta mais em compras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Gastos em compras &gt;= 397,00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Gasta menos em compras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Gastos em compras &lt; 397,00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435225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Não tem filhos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Filhos = 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Tem filhos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Filhos != 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310588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Faz menos compras com desconto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Compras com desconto &lt;= 2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Faz mais compras com desconto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Compras com desconto &gt; 2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27308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Visita menos o site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Visitas ao site &lt;= 6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Visita mais o site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Visitas ao site &gt; 6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370922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Tem maior escolaridade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Escolaridade != Basic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Tem menor escolaridade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Escolaridade = Basic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79832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Aceita mais campanhas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Aceitou campanhas = 1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Aceita menos campanhas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Aceitou campanhas = 0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610298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 com mais frequência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Frequência de compras &lt;= 49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Compra com menos frequência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Frequência de compras &gt; 49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754846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É cliente há mais tempo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Dias como cliente &gt;= 356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É cliente há menos tempo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Dias como cliente &lt; 356</a:t>
                      </a:r>
                    </a:p>
                  </a:txBody>
                  <a:tcPr marL="7620" marR="7620" marT="762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95112"/>
                  </a:ext>
                </a:extLst>
              </a:tr>
              <a:tr h="3640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Não possui um parceiro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Estado civil = Single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Possui um parceiro</a:t>
                      </a: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100" b="0" i="0" u="none" strike="noStrike" kern="1200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Estado civil = </a:t>
                      </a:r>
                      <a:r>
                        <a:rPr lang="pt-BR" sz="1100" b="0" i="0" u="none" strike="noStrike" kern="1200" dirty="0" err="1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  <a:ea typeface="+mn-ea"/>
                          <a:cs typeface="+mn-cs"/>
                        </a:rPr>
                        <a:t>Partner</a:t>
                      </a:r>
                      <a:endParaRPr lang="pt-BR" sz="1100" b="0" i="0" u="none" strike="noStrike" kern="1200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50766"/>
                  </a:ext>
                </a:extLst>
              </a:tr>
            </a:tbl>
          </a:graphicData>
        </a:graphic>
      </p:graphicFrame>
      <p:sp>
        <p:nvSpPr>
          <p:cNvPr id="15" name="Google Shape;294;p8">
            <a:extLst>
              <a:ext uri="{FF2B5EF4-FFF2-40B4-BE49-F238E27FC236}">
                <a16:creationId xmlns:a16="http://schemas.microsoft.com/office/drawing/2014/main" id="{6E28AC26-F4EF-A050-EF0F-A85220F2E57F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4053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13" descr="Pessoa na frente de um laptop aberto&#10;&#10;Descrição gerada automaticamente"/>
          <p:cNvPicPr preferRelativeResize="0"/>
          <p:nvPr/>
        </p:nvPicPr>
        <p:blipFill rotWithShape="1">
          <a:blip r:embed="rId3">
            <a:alphaModFix amt="20000"/>
          </a:blip>
          <a:srcRect r="28858"/>
          <a:stretch/>
        </p:blipFill>
        <p:spPr>
          <a:xfrm flipH="1">
            <a:off x="0" y="0"/>
            <a:ext cx="5272451" cy="49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0" y="0"/>
            <a:ext cx="12186176" cy="6858000"/>
          </a:xfrm>
          <a:custGeom>
            <a:avLst/>
            <a:gdLst/>
            <a:ahLst/>
            <a:cxnLst/>
            <a:rect l="l" t="t" r="r" b="b"/>
            <a:pathLst>
              <a:path w="12186176" h="6858000" extrusionOk="0">
                <a:moveTo>
                  <a:pt x="3667435" y="0"/>
                </a:moveTo>
                <a:lnTo>
                  <a:pt x="12186176" y="0"/>
                </a:lnTo>
                <a:lnTo>
                  <a:pt x="12186176" y="6858000"/>
                </a:lnTo>
                <a:lnTo>
                  <a:pt x="0" y="6858000"/>
                </a:lnTo>
                <a:lnTo>
                  <a:pt x="0" y="4292409"/>
                </a:lnTo>
                <a:lnTo>
                  <a:pt x="422331" y="4714740"/>
                </a:lnTo>
                <a:lnTo>
                  <a:pt x="4402253" y="73481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8551381" y="3291908"/>
            <a:ext cx="206829" cy="996043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8885615" y="3420618"/>
            <a:ext cx="157382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Faz compras com mais frequência</a:t>
            </a:r>
          </a:p>
        </p:txBody>
      </p:sp>
      <p:grpSp>
        <p:nvGrpSpPr>
          <p:cNvPr id="389" name="Google Shape;389;p13"/>
          <p:cNvGrpSpPr/>
          <p:nvPr/>
        </p:nvGrpSpPr>
        <p:grpSpPr>
          <a:xfrm>
            <a:off x="8365780" y="3593714"/>
            <a:ext cx="392430" cy="395784"/>
            <a:chOff x="8365780" y="3593714"/>
            <a:chExt cx="392430" cy="395784"/>
          </a:xfrm>
        </p:grpSpPr>
        <p:sp>
          <p:nvSpPr>
            <p:cNvPr id="390" name="Google Shape;390;p13"/>
            <p:cNvSpPr/>
            <p:nvPr/>
          </p:nvSpPr>
          <p:spPr>
            <a:xfrm>
              <a:off x="8365780" y="3593714"/>
              <a:ext cx="392430" cy="392430"/>
            </a:xfrm>
            <a:prstGeom prst="ellipse">
              <a:avLst/>
            </a:prstGeom>
            <a:solidFill>
              <a:srgbClr val="F24405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1" name="Google Shape;391;p13"/>
            <p:cNvSpPr txBox="1"/>
            <p:nvPr/>
          </p:nvSpPr>
          <p:spPr>
            <a:xfrm>
              <a:off x="8398462" y="3620166"/>
              <a:ext cx="3369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5</a:t>
              </a:r>
              <a:endParaRPr dirty="0"/>
            </a:p>
          </p:txBody>
        </p:sp>
      </p:grpSp>
      <p:sp>
        <p:nvSpPr>
          <p:cNvPr id="392" name="Google Shape;392;p13"/>
          <p:cNvSpPr/>
          <p:nvPr/>
        </p:nvSpPr>
        <p:spPr>
          <a:xfrm>
            <a:off x="8551381" y="2022914"/>
            <a:ext cx="206829" cy="996043"/>
          </a:xfrm>
          <a:prstGeom prst="rect">
            <a:avLst/>
          </a:prstGeom>
          <a:solidFill>
            <a:srgbClr val="2C3D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3" name="Google Shape;393;p13"/>
          <p:cNvSpPr txBox="1"/>
          <p:nvPr/>
        </p:nvSpPr>
        <p:spPr>
          <a:xfrm>
            <a:off x="8885615" y="2259345"/>
            <a:ext cx="15738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Tem maior escolaridade</a:t>
            </a:r>
          </a:p>
        </p:txBody>
      </p:sp>
      <p:grpSp>
        <p:nvGrpSpPr>
          <p:cNvPr id="394" name="Google Shape;394;p13"/>
          <p:cNvGrpSpPr/>
          <p:nvPr/>
        </p:nvGrpSpPr>
        <p:grpSpPr>
          <a:xfrm>
            <a:off x="8365780" y="2324720"/>
            <a:ext cx="392430" cy="392430"/>
            <a:chOff x="8365780" y="2324720"/>
            <a:chExt cx="392430" cy="392430"/>
          </a:xfrm>
        </p:grpSpPr>
        <p:sp>
          <p:nvSpPr>
            <p:cNvPr id="395" name="Google Shape;395;p13"/>
            <p:cNvSpPr/>
            <p:nvPr/>
          </p:nvSpPr>
          <p:spPr>
            <a:xfrm>
              <a:off x="8365780" y="2324720"/>
              <a:ext cx="392430" cy="392430"/>
            </a:xfrm>
            <a:prstGeom prst="ellipse">
              <a:avLst/>
            </a:prstGeom>
            <a:solidFill>
              <a:srgbClr val="2C3D73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96" name="Google Shape;396;p13"/>
            <p:cNvSpPr txBox="1"/>
            <p:nvPr/>
          </p:nvSpPr>
          <p:spPr>
            <a:xfrm>
              <a:off x="8379412" y="2343552"/>
              <a:ext cx="3465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4</a:t>
              </a:r>
              <a:endParaRPr dirty="0"/>
            </a:p>
          </p:txBody>
        </p:sp>
      </p:grpSp>
      <p:sp>
        <p:nvSpPr>
          <p:cNvPr id="397" name="Google Shape;397;p13"/>
          <p:cNvSpPr/>
          <p:nvPr/>
        </p:nvSpPr>
        <p:spPr>
          <a:xfrm>
            <a:off x="8551381" y="4589757"/>
            <a:ext cx="206829" cy="996043"/>
          </a:xfrm>
          <a:prstGeom prst="rect">
            <a:avLst/>
          </a:prstGeom>
          <a:solidFill>
            <a:srgbClr val="2C3D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13"/>
          <p:cNvSpPr txBox="1"/>
          <p:nvPr/>
        </p:nvSpPr>
        <p:spPr>
          <a:xfrm>
            <a:off x="8885615" y="4826188"/>
            <a:ext cx="15738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Aceita mais campanhas</a:t>
            </a:r>
          </a:p>
        </p:txBody>
      </p:sp>
      <p:grpSp>
        <p:nvGrpSpPr>
          <p:cNvPr id="399" name="Google Shape;399;p13"/>
          <p:cNvGrpSpPr/>
          <p:nvPr/>
        </p:nvGrpSpPr>
        <p:grpSpPr>
          <a:xfrm>
            <a:off x="8365780" y="4891563"/>
            <a:ext cx="392430" cy="392430"/>
            <a:chOff x="8365780" y="4891563"/>
            <a:chExt cx="392430" cy="392430"/>
          </a:xfrm>
        </p:grpSpPr>
        <p:sp>
          <p:nvSpPr>
            <p:cNvPr id="400" name="Google Shape;400;p13"/>
            <p:cNvSpPr/>
            <p:nvPr/>
          </p:nvSpPr>
          <p:spPr>
            <a:xfrm>
              <a:off x="8365780" y="4891563"/>
              <a:ext cx="392430" cy="392430"/>
            </a:xfrm>
            <a:prstGeom prst="ellipse">
              <a:avLst/>
            </a:prstGeom>
            <a:solidFill>
              <a:srgbClr val="2C3D73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algn="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1" name="Google Shape;401;p13"/>
            <p:cNvSpPr txBox="1"/>
            <p:nvPr/>
          </p:nvSpPr>
          <p:spPr>
            <a:xfrm>
              <a:off x="8403888" y="4914205"/>
              <a:ext cx="330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6</a:t>
              </a:r>
              <a:endParaRPr dirty="0"/>
            </a:p>
          </p:txBody>
        </p:sp>
      </p:grpSp>
      <p:sp>
        <p:nvSpPr>
          <p:cNvPr id="402" name="Google Shape;402;p13"/>
          <p:cNvSpPr/>
          <p:nvPr/>
        </p:nvSpPr>
        <p:spPr>
          <a:xfrm flipH="1">
            <a:off x="3367029" y="3291908"/>
            <a:ext cx="206829" cy="996043"/>
          </a:xfrm>
          <a:prstGeom prst="rect">
            <a:avLst/>
          </a:prstGeom>
          <a:solidFill>
            <a:srgbClr val="2C3D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13"/>
          <p:cNvSpPr txBox="1"/>
          <p:nvPr/>
        </p:nvSpPr>
        <p:spPr>
          <a:xfrm flipH="1">
            <a:off x="1665795" y="3528339"/>
            <a:ext cx="15738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Faz mais compras</a:t>
            </a:r>
          </a:p>
        </p:txBody>
      </p:sp>
      <p:grpSp>
        <p:nvGrpSpPr>
          <p:cNvPr id="404" name="Google Shape;404;p13"/>
          <p:cNvGrpSpPr/>
          <p:nvPr/>
        </p:nvGrpSpPr>
        <p:grpSpPr>
          <a:xfrm>
            <a:off x="3367029" y="3580607"/>
            <a:ext cx="392430" cy="392430"/>
            <a:chOff x="3367029" y="3593714"/>
            <a:chExt cx="392430" cy="392430"/>
          </a:xfrm>
        </p:grpSpPr>
        <p:sp>
          <p:nvSpPr>
            <p:cNvPr id="405" name="Google Shape;405;p13"/>
            <p:cNvSpPr/>
            <p:nvPr/>
          </p:nvSpPr>
          <p:spPr>
            <a:xfrm flipH="1">
              <a:off x="3367029" y="3593714"/>
              <a:ext cx="392430" cy="392430"/>
            </a:xfrm>
            <a:prstGeom prst="ellipse">
              <a:avLst/>
            </a:prstGeom>
            <a:solidFill>
              <a:srgbClr val="2C3D73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6" name="Google Shape;406;p13"/>
            <p:cNvSpPr txBox="1"/>
            <p:nvPr/>
          </p:nvSpPr>
          <p:spPr>
            <a:xfrm flipH="1">
              <a:off x="3401327" y="3612546"/>
              <a:ext cx="3161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dirty="0"/>
            </a:p>
          </p:txBody>
        </p:sp>
      </p:grpSp>
      <p:sp>
        <p:nvSpPr>
          <p:cNvPr id="407" name="Google Shape;407;p13"/>
          <p:cNvSpPr/>
          <p:nvPr/>
        </p:nvSpPr>
        <p:spPr>
          <a:xfrm flipH="1">
            <a:off x="3367029" y="2022914"/>
            <a:ext cx="206829" cy="996043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 flipH="1">
            <a:off x="1665795" y="2259345"/>
            <a:ext cx="15738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Renda média alta</a:t>
            </a:r>
            <a:endParaRPr sz="1400" dirty="0">
              <a:solidFill>
                <a:schemeClr val="dk1"/>
              </a:solidFill>
              <a:latin typeface="Montserrat" pitchFamily="2" charset="0"/>
              <a:ea typeface="Open Sans"/>
              <a:cs typeface="Open Sans"/>
              <a:sym typeface="Open Sans"/>
            </a:endParaRPr>
          </a:p>
        </p:txBody>
      </p:sp>
      <p:grpSp>
        <p:nvGrpSpPr>
          <p:cNvPr id="409" name="Google Shape;409;p13"/>
          <p:cNvGrpSpPr/>
          <p:nvPr/>
        </p:nvGrpSpPr>
        <p:grpSpPr>
          <a:xfrm>
            <a:off x="3367029" y="2311613"/>
            <a:ext cx="392430" cy="399594"/>
            <a:chOff x="3367029" y="2324720"/>
            <a:chExt cx="392430" cy="399594"/>
          </a:xfrm>
        </p:grpSpPr>
        <p:sp>
          <p:nvSpPr>
            <p:cNvPr id="410" name="Google Shape;410;p13"/>
            <p:cNvSpPr/>
            <p:nvPr/>
          </p:nvSpPr>
          <p:spPr>
            <a:xfrm flipH="1">
              <a:off x="3367029" y="2324720"/>
              <a:ext cx="392430" cy="392430"/>
            </a:xfrm>
            <a:prstGeom prst="ellipse">
              <a:avLst/>
            </a:prstGeom>
            <a:solidFill>
              <a:srgbClr val="F24405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1" name="Google Shape;411;p13"/>
            <p:cNvSpPr txBox="1"/>
            <p:nvPr/>
          </p:nvSpPr>
          <p:spPr>
            <a:xfrm flipH="1">
              <a:off x="3432845" y="2354982"/>
              <a:ext cx="2760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dirty="0"/>
            </a:p>
          </p:txBody>
        </p:sp>
      </p:grpSp>
      <p:sp>
        <p:nvSpPr>
          <p:cNvPr id="412" name="Google Shape;412;p13"/>
          <p:cNvSpPr/>
          <p:nvPr/>
        </p:nvSpPr>
        <p:spPr>
          <a:xfrm flipH="1">
            <a:off x="3367029" y="4589757"/>
            <a:ext cx="206829" cy="996043"/>
          </a:xfrm>
          <a:prstGeom prst="rect">
            <a:avLst/>
          </a:prstGeom>
          <a:solidFill>
            <a:srgbClr val="F2440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 flipH="1">
            <a:off x="1665795" y="4826188"/>
            <a:ext cx="15738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Gasta mais em compras</a:t>
            </a:r>
          </a:p>
        </p:txBody>
      </p:sp>
      <p:grpSp>
        <p:nvGrpSpPr>
          <p:cNvPr id="414" name="Google Shape;414;p13"/>
          <p:cNvGrpSpPr/>
          <p:nvPr/>
        </p:nvGrpSpPr>
        <p:grpSpPr>
          <a:xfrm>
            <a:off x="3367029" y="4891563"/>
            <a:ext cx="392430" cy="397042"/>
            <a:chOff x="3367029" y="4891563"/>
            <a:chExt cx="392430" cy="397042"/>
          </a:xfrm>
        </p:grpSpPr>
        <p:sp>
          <p:nvSpPr>
            <p:cNvPr id="415" name="Google Shape;415;p13"/>
            <p:cNvSpPr/>
            <p:nvPr/>
          </p:nvSpPr>
          <p:spPr>
            <a:xfrm flipH="1">
              <a:off x="3367029" y="4891563"/>
              <a:ext cx="392430" cy="392430"/>
            </a:xfrm>
            <a:prstGeom prst="ellipse">
              <a:avLst/>
            </a:prstGeom>
            <a:solidFill>
              <a:srgbClr val="F24405"/>
            </a:solidFill>
            <a:ln w="12700" cap="flat" cmpd="sng">
              <a:solidFill>
                <a:srgbClr val="F2F2F2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6" name="Google Shape;416;p13"/>
            <p:cNvSpPr txBox="1"/>
            <p:nvPr/>
          </p:nvSpPr>
          <p:spPr>
            <a:xfrm flipH="1">
              <a:off x="3404237" y="4919273"/>
              <a:ext cx="3273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 dirty="0">
                  <a:solidFill>
                    <a:schemeClr val="lt1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dirty="0"/>
            </a:p>
          </p:txBody>
        </p:sp>
      </p:grpSp>
      <p:grpSp>
        <p:nvGrpSpPr>
          <p:cNvPr id="417" name="Google Shape;417;p13"/>
          <p:cNvGrpSpPr/>
          <p:nvPr/>
        </p:nvGrpSpPr>
        <p:grpSpPr>
          <a:xfrm>
            <a:off x="4301754" y="2194560"/>
            <a:ext cx="3540978" cy="3233066"/>
            <a:chOff x="4301754" y="2194560"/>
            <a:chExt cx="3540978" cy="3233066"/>
          </a:xfrm>
        </p:grpSpPr>
        <p:sp>
          <p:nvSpPr>
            <p:cNvPr id="418" name="Google Shape;418;p13"/>
            <p:cNvSpPr/>
            <p:nvPr/>
          </p:nvSpPr>
          <p:spPr>
            <a:xfrm>
              <a:off x="4301754" y="2194560"/>
              <a:ext cx="3540978" cy="3233066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127981" y="2231680"/>
              <a:ext cx="1904632" cy="853894"/>
            </a:xfrm>
            <a:custGeom>
              <a:avLst/>
              <a:gdLst/>
              <a:ahLst/>
              <a:cxnLst/>
              <a:rect l="l" t="t" r="r" b="b"/>
              <a:pathLst>
                <a:path w="1904632" h="853894" extrusionOk="0">
                  <a:moveTo>
                    <a:pt x="1859" y="0"/>
                  </a:moveTo>
                  <a:lnTo>
                    <a:pt x="1901373" y="0"/>
                  </a:lnTo>
                  <a:lnTo>
                    <a:pt x="1904632" y="6517"/>
                  </a:lnTo>
                  <a:lnTo>
                    <a:pt x="1385639" y="853894"/>
                  </a:lnTo>
                  <a:lnTo>
                    <a:pt x="517323" y="853894"/>
                  </a:lnTo>
                  <a:lnTo>
                    <a:pt x="0" y="3718"/>
                  </a:lnTo>
                  <a:close/>
                </a:path>
              </a:pathLst>
            </a:custGeom>
            <a:solidFill>
              <a:srgbClr val="F24405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4342237" y="2235399"/>
              <a:ext cx="1303066" cy="1577838"/>
            </a:xfrm>
            <a:custGeom>
              <a:avLst/>
              <a:gdLst/>
              <a:ahLst/>
              <a:cxnLst/>
              <a:rect l="l" t="t" r="r" b="b"/>
              <a:pathLst>
                <a:path w="1303066" h="1577838" extrusionOk="0">
                  <a:moveTo>
                    <a:pt x="785744" y="0"/>
                  </a:moveTo>
                  <a:lnTo>
                    <a:pt x="1303066" y="850175"/>
                  </a:lnTo>
                  <a:lnTo>
                    <a:pt x="1302452" y="850175"/>
                  </a:lnTo>
                  <a:lnTo>
                    <a:pt x="941796" y="1571486"/>
                  </a:lnTo>
                  <a:lnTo>
                    <a:pt x="944887" y="1577668"/>
                  </a:lnTo>
                  <a:lnTo>
                    <a:pt x="3176" y="1577838"/>
                  </a:lnTo>
                  <a:lnTo>
                    <a:pt x="0" y="1571486"/>
                  </a:lnTo>
                  <a:close/>
                </a:path>
              </a:pathLst>
            </a:custGeom>
            <a:solidFill>
              <a:srgbClr val="031059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4345413" y="3813067"/>
              <a:ext cx="1297494" cy="1565319"/>
            </a:xfrm>
            <a:custGeom>
              <a:avLst/>
              <a:gdLst/>
              <a:ahLst/>
              <a:cxnLst/>
              <a:rect l="l" t="t" r="r" b="b"/>
              <a:pathLst>
                <a:path w="1297494" h="1565319" extrusionOk="0">
                  <a:moveTo>
                    <a:pt x="941711" y="0"/>
                  </a:moveTo>
                  <a:lnTo>
                    <a:pt x="1297494" y="711564"/>
                  </a:lnTo>
                  <a:lnTo>
                    <a:pt x="782575" y="1565319"/>
                  </a:lnTo>
                  <a:lnTo>
                    <a:pt x="0" y="170"/>
                  </a:lnTo>
                  <a:close/>
                </a:path>
              </a:pathLst>
            </a:custGeom>
            <a:solidFill>
              <a:srgbClr val="F24405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5127989" y="4524634"/>
              <a:ext cx="1904547" cy="857457"/>
            </a:xfrm>
            <a:custGeom>
              <a:avLst/>
              <a:gdLst/>
              <a:ahLst/>
              <a:cxnLst/>
              <a:rect l="l" t="t" r="r" b="b"/>
              <a:pathLst>
                <a:path w="1904547" h="857457" extrusionOk="0">
                  <a:moveTo>
                    <a:pt x="514919" y="0"/>
                  </a:moveTo>
                  <a:lnTo>
                    <a:pt x="516700" y="3563"/>
                  </a:lnTo>
                  <a:lnTo>
                    <a:pt x="1386517" y="3563"/>
                  </a:lnTo>
                  <a:lnTo>
                    <a:pt x="1387098" y="2401"/>
                  </a:lnTo>
                  <a:lnTo>
                    <a:pt x="1904547" y="851094"/>
                  </a:lnTo>
                  <a:lnTo>
                    <a:pt x="1901365" y="857457"/>
                  </a:lnTo>
                  <a:lnTo>
                    <a:pt x="1851" y="857457"/>
                  </a:lnTo>
                  <a:lnTo>
                    <a:pt x="0" y="853754"/>
                  </a:lnTo>
                  <a:close/>
                </a:path>
              </a:pathLst>
            </a:custGeom>
            <a:solidFill>
              <a:srgbClr val="031059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515089" y="3803786"/>
              <a:ext cx="1301869" cy="1571941"/>
            </a:xfrm>
            <a:custGeom>
              <a:avLst/>
              <a:gdLst/>
              <a:ahLst/>
              <a:cxnLst/>
              <a:rect l="l" t="t" r="r" b="b"/>
              <a:pathLst>
                <a:path w="1301869" h="1571941" extrusionOk="0">
                  <a:moveTo>
                    <a:pt x="1300319" y="0"/>
                  </a:moveTo>
                  <a:lnTo>
                    <a:pt x="1301869" y="3100"/>
                  </a:lnTo>
                  <a:lnTo>
                    <a:pt x="517448" y="1571941"/>
                  </a:lnTo>
                  <a:lnTo>
                    <a:pt x="0" y="723248"/>
                  </a:lnTo>
                  <a:lnTo>
                    <a:pt x="359713" y="3822"/>
                  </a:lnTo>
                  <a:close/>
                </a:path>
              </a:pathLst>
            </a:custGeom>
            <a:solidFill>
              <a:srgbClr val="F24405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6514509" y="2238198"/>
              <a:ext cx="1302452" cy="1569410"/>
            </a:xfrm>
            <a:custGeom>
              <a:avLst/>
              <a:gdLst/>
              <a:ahLst/>
              <a:cxnLst/>
              <a:rect l="l" t="t" r="r" b="b"/>
              <a:pathLst>
                <a:path w="1302452" h="1569410" extrusionOk="0">
                  <a:moveTo>
                    <a:pt x="1300902" y="1565588"/>
                  </a:moveTo>
                  <a:lnTo>
                    <a:pt x="1302452" y="1568688"/>
                  </a:lnTo>
                  <a:lnTo>
                    <a:pt x="1302451" y="1568687"/>
                  </a:lnTo>
                  <a:lnTo>
                    <a:pt x="1300902" y="1565588"/>
                  </a:lnTo>
                  <a:close/>
                  <a:moveTo>
                    <a:pt x="518107" y="0"/>
                  </a:moveTo>
                  <a:lnTo>
                    <a:pt x="1300902" y="1565588"/>
                  </a:lnTo>
                  <a:lnTo>
                    <a:pt x="360296" y="1569410"/>
                  </a:lnTo>
                  <a:lnTo>
                    <a:pt x="0" y="847376"/>
                  </a:lnTo>
                  <a:lnTo>
                    <a:pt x="518107" y="0"/>
                  </a:lnTo>
                  <a:close/>
                </a:path>
              </a:pathLst>
            </a:custGeom>
            <a:solidFill>
              <a:srgbClr val="031059"/>
            </a:solidFill>
            <a:ln w="6350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5252511" y="3055093"/>
              <a:ext cx="1656000" cy="1512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>
              <a:noFill/>
            </a:ln>
            <a:effectLst>
              <a:outerShdw blurRad="101600" sx="105000" sy="105000" algn="ctr" rotWithShape="0">
                <a:srgbClr val="000000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4921753" y="2766150"/>
              <a:ext cx="2301720" cy="2086890"/>
            </a:xfrm>
            <a:custGeom>
              <a:avLst/>
              <a:gdLst/>
              <a:ahLst/>
              <a:cxnLst/>
              <a:rect l="l" t="t" r="r" b="b"/>
              <a:pathLst>
                <a:path w="3474720" h="3150410" extrusionOk="0">
                  <a:moveTo>
                    <a:pt x="1302452" y="853894"/>
                  </a:moveTo>
                  <a:lnTo>
                    <a:pt x="941796" y="1575205"/>
                  </a:lnTo>
                  <a:lnTo>
                    <a:pt x="1302452" y="2296516"/>
                  </a:lnTo>
                  <a:lnTo>
                    <a:pt x="2172269" y="2296516"/>
                  </a:lnTo>
                  <a:lnTo>
                    <a:pt x="2532924" y="1575205"/>
                  </a:lnTo>
                  <a:lnTo>
                    <a:pt x="2172269" y="853894"/>
                  </a:lnTo>
                  <a:close/>
                  <a:moveTo>
                    <a:pt x="787603" y="0"/>
                  </a:moveTo>
                  <a:lnTo>
                    <a:pt x="2687117" y="0"/>
                  </a:lnTo>
                  <a:lnTo>
                    <a:pt x="3474720" y="1575205"/>
                  </a:lnTo>
                  <a:lnTo>
                    <a:pt x="2687117" y="3150410"/>
                  </a:lnTo>
                  <a:lnTo>
                    <a:pt x="787603" y="3150410"/>
                  </a:lnTo>
                  <a:lnTo>
                    <a:pt x="0" y="1575205"/>
                  </a:lnTo>
                  <a:close/>
                </a:path>
              </a:pathLst>
            </a:custGeom>
            <a:solidFill>
              <a:srgbClr val="FFFFFF">
                <a:alpha val="24705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427" name="Google Shape;427;p13" descr="Gráfico de barras com tendência ascendente com preenchimento sólido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615043" y="3332729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13" descr="Fixar com preenchimento sólido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849970" y="4144568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9" name="Google Shape;429;p13" descr="Chave com preenchimento sólido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78200" y="4795875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0" name="Google Shape;430;p13" descr="Documento com preenchimento sólido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855361" y="4200852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1" name="Google Shape;431;p13" descr="Gráfico de pizza com preenchimento sólido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889163" y="3013720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2" name="Google Shape;432;p13" descr="Apresentação com gráfico de barras com preenchimento sólido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839957" y="2432834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13" descr="Lupa com preenchimento sólido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804478" y="2966485"/>
              <a:ext cx="451585" cy="4515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4" name="Google Shape;434;p13"/>
          <p:cNvSpPr/>
          <p:nvPr/>
        </p:nvSpPr>
        <p:spPr>
          <a:xfrm rot="-2700000">
            <a:off x="1089808" y="6213697"/>
            <a:ext cx="1728000" cy="1728000"/>
          </a:xfrm>
          <a:custGeom>
            <a:avLst/>
            <a:gdLst>
              <a:gd name="connsiteX0" fmla="*/ 0 w 1728000"/>
              <a:gd name="connsiteY0" fmla="*/ 0 h 1728000"/>
              <a:gd name="connsiteX1" fmla="*/ 1728000 w 1728000"/>
              <a:gd name="connsiteY1" fmla="*/ 0 h 1728000"/>
              <a:gd name="connsiteX2" fmla="*/ 1728000 w 1728000"/>
              <a:gd name="connsiteY2" fmla="*/ 1728000 h 1728000"/>
              <a:gd name="connsiteX3" fmla="*/ 0 w 1728000"/>
              <a:gd name="connsiteY3" fmla="*/ 1728000 h 1728000"/>
              <a:gd name="connsiteX4" fmla="*/ 0 w 1728000"/>
              <a:gd name="connsiteY4" fmla="*/ 0 h 1728000"/>
              <a:gd name="connsiteX0" fmla="*/ 0 w 1728000"/>
              <a:gd name="connsiteY0" fmla="*/ 0 h 1728000"/>
              <a:gd name="connsiteX1" fmla="*/ 1728000 w 1728000"/>
              <a:gd name="connsiteY1" fmla="*/ 0 h 1728000"/>
              <a:gd name="connsiteX2" fmla="*/ 1728000 w 1728000"/>
              <a:gd name="connsiteY2" fmla="*/ 1728000 h 1728000"/>
              <a:gd name="connsiteX3" fmla="*/ 925783 w 1728000"/>
              <a:gd name="connsiteY3" fmla="*/ 934472 h 1728000"/>
              <a:gd name="connsiteX4" fmla="*/ 0 w 1728000"/>
              <a:gd name="connsiteY4" fmla="*/ 0 h 172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28000">
                <a:moveTo>
                  <a:pt x="0" y="0"/>
                </a:moveTo>
                <a:lnTo>
                  <a:pt x="1728000" y="0"/>
                </a:lnTo>
                <a:lnTo>
                  <a:pt x="1728000" y="1728000"/>
                </a:lnTo>
                <a:lnTo>
                  <a:pt x="925783" y="934472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5" name="Google Shape;435;p13"/>
          <p:cNvSpPr/>
          <p:nvPr/>
        </p:nvSpPr>
        <p:spPr>
          <a:xfrm rot="-2700000">
            <a:off x="9516657" y="-1541764"/>
            <a:ext cx="2743232" cy="3740240"/>
          </a:xfrm>
          <a:custGeom>
            <a:avLst/>
            <a:gdLst>
              <a:gd name="connsiteX0" fmla="*/ 0 w 2743232"/>
              <a:gd name="connsiteY0" fmla="*/ 0 h 3740240"/>
              <a:gd name="connsiteX1" fmla="*/ 2743232 w 2743232"/>
              <a:gd name="connsiteY1" fmla="*/ 0 h 3740240"/>
              <a:gd name="connsiteX2" fmla="*/ 2743232 w 2743232"/>
              <a:gd name="connsiteY2" fmla="*/ 3740240 h 3740240"/>
              <a:gd name="connsiteX3" fmla="*/ 0 w 2743232"/>
              <a:gd name="connsiteY3" fmla="*/ 3740240 h 3740240"/>
              <a:gd name="connsiteX4" fmla="*/ 0 w 2743232"/>
              <a:gd name="connsiteY4" fmla="*/ 0 h 3740240"/>
              <a:gd name="connsiteX0" fmla="*/ 0 w 2743232"/>
              <a:gd name="connsiteY0" fmla="*/ 0 h 3740240"/>
              <a:gd name="connsiteX1" fmla="*/ 2581587 w 2743232"/>
              <a:gd name="connsiteY1" fmla="*/ 2586314 h 3740240"/>
              <a:gd name="connsiteX2" fmla="*/ 2743232 w 2743232"/>
              <a:gd name="connsiteY2" fmla="*/ 3740240 h 3740240"/>
              <a:gd name="connsiteX3" fmla="*/ 0 w 2743232"/>
              <a:gd name="connsiteY3" fmla="*/ 3740240 h 3740240"/>
              <a:gd name="connsiteX4" fmla="*/ 0 w 2743232"/>
              <a:gd name="connsiteY4" fmla="*/ 0 h 374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32" h="3740240">
                <a:moveTo>
                  <a:pt x="0" y="0"/>
                </a:moveTo>
                <a:lnTo>
                  <a:pt x="2581587" y="2586314"/>
                </a:lnTo>
                <a:lnTo>
                  <a:pt x="2743232" y="3740240"/>
                </a:lnTo>
                <a:lnTo>
                  <a:pt x="0" y="3740240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303;p9">
            <a:extLst>
              <a:ext uri="{FF2B5EF4-FFF2-40B4-BE49-F238E27FC236}">
                <a16:creationId xmlns:a16="http://schemas.microsoft.com/office/drawing/2014/main" id="{C4135B1A-36B1-8477-E3F8-310E56C42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30642" y="881075"/>
            <a:ext cx="412074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Brainstorm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5" name="Google Shape;306;p9">
            <a:extLst>
              <a:ext uri="{FF2B5EF4-FFF2-40B4-BE49-F238E27FC236}">
                <a16:creationId xmlns:a16="http://schemas.microsoft.com/office/drawing/2014/main" id="{CD2EE4DA-194E-BD1D-F074-C9FC2170CD6C}"/>
              </a:ext>
            </a:extLst>
          </p:cNvPr>
          <p:cNvSpPr txBox="1"/>
          <p:nvPr/>
        </p:nvSpPr>
        <p:spPr>
          <a:xfrm>
            <a:off x="3708883" y="910833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04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6" name="Google Shape;302;p9">
            <a:extLst>
              <a:ext uri="{FF2B5EF4-FFF2-40B4-BE49-F238E27FC236}">
                <a16:creationId xmlns:a16="http://schemas.microsoft.com/office/drawing/2014/main" id="{D6D562E3-779B-2F23-B776-51C20E04EA81}"/>
              </a:ext>
            </a:extLst>
          </p:cNvPr>
          <p:cNvSpPr txBox="1"/>
          <p:nvPr/>
        </p:nvSpPr>
        <p:spPr>
          <a:xfrm>
            <a:off x="3794989" y="1659342"/>
            <a:ext cx="454152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Clientes que aceitam campanhas</a:t>
            </a:r>
            <a:endParaRPr lang="pt-BR" i="1" dirty="0">
              <a:latin typeface="Montserrat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F532F426-9763-C6B6-6562-E568728A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8">
            <a:extLst>
              <a:ext uri="{FF2B5EF4-FFF2-40B4-BE49-F238E27FC236}">
                <a16:creationId xmlns:a16="http://schemas.microsoft.com/office/drawing/2014/main" id="{6EA7071F-CE0C-0D75-1D92-4725F94B03A6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7348F174-91DD-3EA2-0260-198D525AA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Projeção de Resultados*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0C5EC3C5-BE00-8656-CCD6-9E8EC3324B5D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05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3" name="Google Shape;293;p8">
            <a:extLst>
              <a:ext uri="{FF2B5EF4-FFF2-40B4-BE49-F238E27FC236}">
                <a16:creationId xmlns:a16="http://schemas.microsoft.com/office/drawing/2014/main" id="{FEF0CA9E-702C-173E-8A7D-4A6D4208D76A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94;p8">
            <a:extLst>
              <a:ext uri="{FF2B5EF4-FFF2-40B4-BE49-F238E27FC236}">
                <a16:creationId xmlns:a16="http://schemas.microsoft.com/office/drawing/2014/main" id="{9379F8F9-6DF1-D688-7FE3-54D2C2C3A57F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539B76FB-4736-50B0-3EEE-9B24C2502BC1}"/>
              </a:ext>
            </a:extLst>
          </p:cNvPr>
          <p:cNvSpPr/>
          <p:nvPr/>
        </p:nvSpPr>
        <p:spPr>
          <a:xfrm>
            <a:off x="5532776" y="3516291"/>
            <a:ext cx="1288701" cy="978786"/>
          </a:xfrm>
          <a:prstGeom prst="rightArrow">
            <a:avLst/>
          </a:prstGeom>
          <a:solidFill>
            <a:srgbClr val="FF6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oogle Shape;303;p9">
            <a:extLst>
              <a:ext uri="{FF2B5EF4-FFF2-40B4-BE49-F238E27FC236}">
                <a16:creationId xmlns:a16="http://schemas.microsoft.com/office/drawing/2014/main" id="{6D035E63-52E7-4DB3-9CCE-166EC9185166}"/>
              </a:ext>
            </a:extLst>
          </p:cNvPr>
          <p:cNvSpPr txBox="1">
            <a:spLocks/>
          </p:cNvSpPr>
          <p:nvPr/>
        </p:nvSpPr>
        <p:spPr>
          <a:xfrm>
            <a:off x="1842787" y="2004055"/>
            <a:ext cx="3433146" cy="7629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3200" dirty="0">
                <a:solidFill>
                  <a:srgbClr val="7F7F7F"/>
                </a:solidFill>
                <a:latin typeface="Montserrat" pitchFamily="2" charset="0"/>
              </a:rPr>
              <a:t>Antes</a:t>
            </a:r>
          </a:p>
        </p:txBody>
      </p:sp>
      <p:sp>
        <p:nvSpPr>
          <p:cNvPr id="9" name="Google Shape;303;p9">
            <a:extLst>
              <a:ext uri="{FF2B5EF4-FFF2-40B4-BE49-F238E27FC236}">
                <a16:creationId xmlns:a16="http://schemas.microsoft.com/office/drawing/2014/main" id="{3937F593-E17C-B400-3A07-98A4DF18A19D}"/>
              </a:ext>
            </a:extLst>
          </p:cNvPr>
          <p:cNvSpPr txBox="1">
            <a:spLocks/>
          </p:cNvSpPr>
          <p:nvPr/>
        </p:nvSpPr>
        <p:spPr>
          <a:xfrm>
            <a:off x="7347304" y="2005969"/>
            <a:ext cx="3433146" cy="7629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3200" dirty="0">
                <a:solidFill>
                  <a:srgbClr val="7F7F7F"/>
                </a:solidFill>
                <a:latin typeface="Montserrat" pitchFamily="2" charset="0"/>
              </a:rPr>
              <a:t>Depois</a:t>
            </a:r>
          </a:p>
        </p:txBody>
      </p:sp>
      <p:sp>
        <p:nvSpPr>
          <p:cNvPr id="10" name="Google Shape;302;p9">
            <a:extLst>
              <a:ext uri="{FF2B5EF4-FFF2-40B4-BE49-F238E27FC236}">
                <a16:creationId xmlns:a16="http://schemas.microsoft.com/office/drawing/2014/main" id="{1590F411-CFB0-20B9-DE1B-31CBCF979A97}"/>
              </a:ext>
            </a:extLst>
          </p:cNvPr>
          <p:cNvSpPr txBox="1"/>
          <p:nvPr/>
        </p:nvSpPr>
        <p:spPr>
          <a:xfrm>
            <a:off x="1748195" y="3040430"/>
            <a:ext cx="3622330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15,1%: </a:t>
            </a:r>
            <a:r>
              <a:rPr lang="pt-BR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Aceitariam futuras campanhas</a:t>
            </a:r>
            <a:endParaRPr lang="pt-BR" dirty="0">
              <a:latin typeface="Montserrat" pitchFamily="2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FF0000"/>
              </a:solidFill>
              <a:latin typeface="Montserrat" pitchFamily="2" charset="0"/>
              <a:ea typeface="Open Sans"/>
              <a:cs typeface="Open Sans"/>
              <a:sym typeface="Open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84,9</a:t>
            </a:r>
            <a:r>
              <a:rPr lang="pt-BR" sz="1800" b="1" dirty="0">
                <a:solidFill>
                  <a:srgbClr val="FF000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%: </a:t>
            </a:r>
            <a:r>
              <a:rPr lang="pt-BR" sz="18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Não aceitariam futuras campanhas</a:t>
            </a:r>
          </a:p>
        </p:txBody>
      </p:sp>
      <p:sp>
        <p:nvSpPr>
          <p:cNvPr id="11" name="Google Shape;302;p9">
            <a:extLst>
              <a:ext uri="{FF2B5EF4-FFF2-40B4-BE49-F238E27FC236}">
                <a16:creationId xmlns:a16="http://schemas.microsoft.com/office/drawing/2014/main" id="{4CF1BEB5-FF79-B68D-0E46-19B2E7F3CD32}"/>
              </a:ext>
            </a:extLst>
          </p:cNvPr>
          <p:cNvSpPr txBox="1"/>
          <p:nvPr/>
        </p:nvSpPr>
        <p:spPr>
          <a:xfrm>
            <a:off x="7252712" y="3026435"/>
            <a:ext cx="3622330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00B05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100,0%: </a:t>
            </a:r>
            <a:r>
              <a:rPr lang="pt-BR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Aceitariam futuras campanhas</a:t>
            </a:r>
            <a:endParaRPr lang="pt-BR" dirty="0">
              <a:latin typeface="Montserrat" pitchFamily="2" charset="0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FF0000"/>
              </a:solidFill>
              <a:latin typeface="Montserrat" pitchFamily="2" charset="0"/>
              <a:ea typeface="Open Sans"/>
              <a:cs typeface="Open Sans"/>
              <a:sym typeface="Open Sans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FF000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0</a:t>
            </a:r>
            <a:r>
              <a:rPr lang="pt-BR" sz="1800" b="1" dirty="0">
                <a:solidFill>
                  <a:srgbClr val="FF0000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,00%: </a:t>
            </a:r>
            <a:r>
              <a:rPr lang="pt-BR" sz="18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Não aceitariam futuras campanhas</a:t>
            </a:r>
          </a:p>
        </p:txBody>
      </p:sp>
      <p:sp>
        <p:nvSpPr>
          <p:cNvPr id="12" name="Google Shape;302;p9">
            <a:extLst>
              <a:ext uri="{FF2B5EF4-FFF2-40B4-BE49-F238E27FC236}">
                <a16:creationId xmlns:a16="http://schemas.microsoft.com/office/drawing/2014/main" id="{C5EA822B-CF3D-CCAE-36C6-8D8D2B2B2722}"/>
              </a:ext>
            </a:extLst>
          </p:cNvPr>
          <p:cNvSpPr txBox="1"/>
          <p:nvPr/>
        </p:nvSpPr>
        <p:spPr>
          <a:xfrm>
            <a:off x="963376" y="5715188"/>
            <a:ext cx="983410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* Essa projeção de resultados apresenta o potencial da adoção plena das soluções apontadas e considera que todas terão o resultado esperado. </a:t>
            </a:r>
            <a:r>
              <a:rPr lang="pt-BR" sz="1200" b="1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No entanto, é preciso frisar que as condições aplicadas são para um grupo de clientes que está propenso a aceitar futuras campanhas e representa o potencial máximo desse estudo</a:t>
            </a:r>
            <a:r>
              <a:rPr lang="pt-BR" sz="1200" dirty="0">
                <a:solidFill>
                  <a:srgbClr val="7F7F7F"/>
                </a:solidFill>
                <a:latin typeface="Montserrat" pitchFamily="2" charset="0"/>
                <a:ea typeface="Open Sans"/>
                <a:cs typeface="Open Sans"/>
                <a:sym typeface="Open Sans"/>
              </a:rPr>
              <a:t>. Dessa forma, é preciso entender com as demais áreas da empresa se há viabilidade na aplicação das ideias apresentadas ou se serão necessários mais estudos com novas soluções.</a:t>
            </a:r>
            <a:endParaRPr lang="pt-BR" sz="12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73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D2181B9-6895-96A0-A410-5738FCFB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>
            <a:extLst>
              <a:ext uri="{FF2B5EF4-FFF2-40B4-BE49-F238E27FC236}">
                <a16:creationId xmlns:a16="http://schemas.microsoft.com/office/drawing/2014/main" id="{2857B825-522A-24B6-3C68-50D2258E7555}"/>
              </a:ext>
            </a:extLst>
          </p:cNvPr>
          <p:cNvPicPr preferRelativeResize="0"/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7" r="12187"/>
          <a:stretch/>
        </p:blipFill>
        <p:spPr>
          <a:xfrm>
            <a:off x="3952042" y="0"/>
            <a:ext cx="8643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1F3B30C1-3E01-733A-F897-F7D70C0A4E18}"/>
              </a:ext>
            </a:extLst>
          </p:cNvPr>
          <p:cNvSpPr/>
          <p:nvPr/>
        </p:nvSpPr>
        <p:spPr>
          <a:xfrm>
            <a:off x="0" y="0"/>
            <a:ext cx="10788444" cy="6858000"/>
          </a:xfrm>
          <a:custGeom>
            <a:avLst/>
            <a:gdLst/>
            <a:ahLst/>
            <a:cxnLst/>
            <a:rect l="l" t="t" r="r" b="b"/>
            <a:pathLst>
              <a:path w="10788444" h="6858000" extrusionOk="0">
                <a:moveTo>
                  <a:pt x="0" y="0"/>
                </a:moveTo>
                <a:lnTo>
                  <a:pt x="3930444" y="0"/>
                </a:lnTo>
                <a:lnTo>
                  <a:pt x="107884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06931FB4-B243-4092-422A-97705B03C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200" y="1089025"/>
            <a:ext cx="10007600" cy="1373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Potencial </a:t>
            </a:r>
            <a:b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</a:b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 Impacto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8B971EBB-0A83-CA19-F382-C3EE48A03A39}"/>
              </a:ext>
            </a:extLst>
          </p:cNvPr>
          <p:cNvSpPr txBox="1"/>
          <p:nvPr/>
        </p:nvSpPr>
        <p:spPr>
          <a:xfrm>
            <a:off x="259773" y="1147362"/>
            <a:ext cx="83242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06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155;p5">
            <a:extLst>
              <a:ext uri="{FF2B5EF4-FFF2-40B4-BE49-F238E27FC236}">
                <a16:creationId xmlns:a16="http://schemas.microsoft.com/office/drawing/2014/main" id="{223E0A8A-5866-7CB6-44CB-B4F3BAB3F0BB}"/>
              </a:ext>
            </a:extLst>
          </p:cNvPr>
          <p:cNvSpPr/>
          <p:nvPr/>
        </p:nvSpPr>
        <p:spPr>
          <a:xfrm rot="18900000">
            <a:off x="7070723" y="3858345"/>
            <a:ext cx="7406645" cy="3864826"/>
          </a:xfrm>
          <a:custGeom>
            <a:avLst/>
            <a:gdLst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0 w 7406645"/>
              <a:gd name="connsiteY3" fmla="*/ 3864826 h 3864826"/>
              <a:gd name="connsiteX4" fmla="*/ 0 w 7406645"/>
              <a:gd name="connsiteY4" fmla="*/ 0 h 3864826"/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3908860 w 7406645"/>
              <a:gd name="connsiteY3" fmla="*/ 3850131 h 3864826"/>
              <a:gd name="connsiteX4" fmla="*/ 0 w 7406645"/>
              <a:gd name="connsiteY4" fmla="*/ 0 h 38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06645" h="3864826">
                <a:moveTo>
                  <a:pt x="0" y="0"/>
                </a:moveTo>
                <a:lnTo>
                  <a:pt x="7406645" y="0"/>
                </a:lnTo>
                <a:lnTo>
                  <a:pt x="7406645" y="3864826"/>
                </a:lnTo>
                <a:lnTo>
                  <a:pt x="3908860" y="3850131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65B576DD-E39A-01A0-AF1A-6B751FD1562F}"/>
              </a:ext>
            </a:extLst>
          </p:cNvPr>
          <p:cNvSpPr txBox="1"/>
          <p:nvPr/>
        </p:nvSpPr>
        <p:spPr>
          <a:xfrm>
            <a:off x="1092200" y="2751237"/>
            <a:ext cx="9715405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rgbClr val="FF6200"/>
                </a:solidFill>
                <a:latin typeface="Montserrat" pitchFamily="2" charset="0"/>
              </a:rPr>
              <a:t>Cenário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Montserrat" pitchFamily="2" charset="0"/>
              </a:rPr>
              <a:t>Receita: </a:t>
            </a:r>
            <a:r>
              <a:rPr lang="pt-BR" dirty="0">
                <a:latin typeface="Montserrat" pitchFamily="2" charset="0"/>
              </a:rPr>
              <a:t>R$ 20 milhões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Montserrat" pitchFamily="2" charset="0"/>
              </a:rPr>
              <a:t>Conversão de campanhas: </a:t>
            </a:r>
            <a:r>
              <a:rPr lang="pt-BR" dirty="0">
                <a:latin typeface="Montserrat" pitchFamily="2" charset="0"/>
              </a:rPr>
              <a:t>+ 10%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Montserrat" pitchFamily="2" charset="0"/>
              </a:rPr>
              <a:t>Faturamento adicional: </a:t>
            </a:r>
            <a:r>
              <a:rPr lang="pt-BR" dirty="0">
                <a:latin typeface="Montserrat" pitchFamily="2" charset="0"/>
              </a:rPr>
              <a:t>R$ 2 milhões</a:t>
            </a:r>
          </a:p>
        </p:txBody>
      </p:sp>
    </p:spTree>
    <p:extLst>
      <p:ext uri="{BB962C8B-B14F-4D97-AF65-F5344CB8AC3E}">
        <p14:creationId xmlns:p14="http://schemas.microsoft.com/office/powerpoint/2010/main" val="56800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68BAA5A8-DAFF-5FD8-22F4-C6AF1A13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86E194D6-3D6B-A4D8-1A84-DBA23EE988AB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93B82116-FD90-1C7B-BC04-455B13132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EDA: Base Técnica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B1907C69-F210-3C93-C9AC-8304ECF76A5F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07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02D0A2A4-A43A-A776-A5C5-7874A07BCE06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03260D-FADA-0840-33DE-D1EAAD69F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759"/>
          <a:stretch>
            <a:fillRect/>
          </a:stretch>
        </p:blipFill>
        <p:spPr bwMode="auto">
          <a:xfrm>
            <a:off x="6352622" y="2791179"/>
            <a:ext cx="2520000" cy="12753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DEAA347-A11B-BCC7-D783-949EF20E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1690" y="5187270"/>
            <a:ext cx="2520000" cy="12524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DA3F97E-F6ED-E63A-3EF0-86D9DF641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393087" y="2791179"/>
            <a:ext cx="2520000" cy="26191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C062481-DF3A-109F-B090-86D4F026C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70996" y="5187270"/>
            <a:ext cx="2520000" cy="11164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63C429E1-D00B-BAC3-03B7-4ACB3DBDF5E2}"/>
              </a:ext>
            </a:extLst>
          </p:cNvPr>
          <p:cNvSpPr txBox="1"/>
          <p:nvPr/>
        </p:nvSpPr>
        <p:spPr>
          <a:xfrm>
            <a:off x="6046010" y="2039866"/>
            <a:ext cx="30565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3: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Histograma</a:t>
            </a:r>
          </a:p>
        </p:txBody>
      </p:sp>
      <p:sp>
        <p:nvSpPr>
          <p:cNvPr id="9" name="Google Shape;156;p5">
            <a:extLst>
              <a:ext uri="{FF2B5EF4-FFF2-40B4-BE49-F238E27FC236}">
                <a16:creationId xmlns:a16="http://schemas.microsoft.com/office/drawing/2014/main" id="{6E7F6FAD-029A-02E9-F475-F3C6CDE26B88}"/>
              </a:ext>
            </a:extLst>
          </p:cNvPr>
          <p:cNvSpPr txBox="1"/>
          <p:nvPr/>
        </p:nvSpPr>
        <p:spPr>
          <a:xfrm>
            <a:off x="11975" y="4505166"/>
            <a:ext cx="3039428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5: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Diagrama de Caixa</a:t>
            </a:r>
          </a:p>
        </p:txBody>
      </p:sp>
      <p:sp>
        <p:nvSpPr>
          <p:cNvPr id="10" name="Google Shape;156;p5">
            <a:extLst>
              <a:ext uri="{FF2B5EF4-FFF2-40B4-BE49-F238E27FC236}">
                <a16:creationId xmlns:a16="http://schemas.microsoft.com/office/drawing/2014/main" id="{5B5C905D-E256-6113-FFB7-33916C6567DC}"/>
              </a:ext>
            </a:extLst>
          </p:cNvPr>
          <p:cNvSpPr txBox="1"/>
          <p:nvPr/>
        </p:nvSpPr>
        <p:spPr>
          <a:xfrm>
            <a:off x="9124319" y="2039866"/>
            <a:ext cx="3045943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4: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Mapa de Calor</a:t>
            </a:r>
          </a:p>
        </p:txBody>
      </p:sp>
      <p:sp>
        <p:nvSpPr>
          <p:cNvPr id="11" name="Google Shape;156;p5">
            <a:extLst>
              <a:ext uri="{FF2B5EF4-FFF2-40B4-BE49-F238E27FC236}">
                <a16:creationId xmlns:a16="http://schemas.microsoft.com/office/drawing/2014/main" id="{1803F6B4-7A63-4DCE-99BB-9F57881938EB}"/>
              </a:ext>
            </a:extLst>
          </p:cNvPr>
          <p:cNvSpPr txBox="1"/>
          <p:nvPr/>
        </p:nvSpPr>
        <p:spPr>
          <a:xfrm>
            <a:off x="3003327" y="4505166"/>
            <a:ext cx="3042683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6: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Gráfico de Barra</a:t>
            </a: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B7AC547D-FFCD-0DFC-55C1-DD6216FCD715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156;p5">
            <a:extLst>
              <a:ext uri="{FF2B5EF4-FFF2-40B4-BE49-F238E27FC236}">
                <a16:creationId xmlns:a16="http://schemas.microsoft.com/office/drawing/2014/main" id="{DD20D898-5268-C5C7-E94E-B1523193399B}"/>
              </a:ext>
            </a:extLst>
          </p:cNvPr>
          <p:cNvSpPr txBox="1"/>
          <p:nvPr/>
        </p:nvSpPr>
        <p:spPr>
          <a:xfrm>
            <a:off x="3404" y="2039866"/>
            <a:ext cx="30565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1: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Gráfico de Contagem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1C616C-DB85-E897-F699-D5C700B6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83" b="37383"/>
          <a:stretch/>
        </p:blipFill>
        <p:spPr bwMode="auto">
          <a:xfrm>
            <a:off x="271690" y="2791179"/>
            <a:ext cx="2520000" cy="12753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Google Shape;156;p5">
            <a:extLst>
              <a:ext uri="{FF2B5EF4-FFF2-40B4-BE49-F238E27FC236}">
                <a16:creationId xmlns:a16="http://schemas.microsoft.com/office/drawing/2014/main" id="{3AD45525-7D93-0C3B-5999-DD6F9327AEF9}"/>
              </a:ext>
            </a:extLst>
          </p:cNvPr>
          <p:cNvSpPr txBox="1"/>
          <p:nvPr/>
        </p:nvSpPr>
        <p:spPr>
          <a:xfrm>
            <a:off x="3024707" y="2039866"/>
            <a:ext cx="30565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2: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Gráfico de Dispersão</a:t>
            </a:r>
          </a:p>
        </p:txBody>
      </p:sp>
      <p:sp>
        <p:nvSpPr>
          <p:cNvPr id="13" name="Google Shape;156;p5">
            <a:extLst>
              <a:ext uri="{FF2B5EF4-FFF2-40B4-BE49-F238E27FC236}">
                <a16:creationId xmlns:a16="http://schemas.microsoft.com/office/drawing/2014/main" id="{5A69BD0C-7672-5AA7-C5AF-AD558E9D0510}"/>
              </a:ext>
            </a:extLst>
          </p:cNvPr>
          <p:cNvSpPr txBox="1"/>
          <p:nvPr/>
        </p:nvSpPr>
        <p:spPr>
          <a:xfrm>
            <a:off x="6042755" y="4505166"/>
            <a:ext cx="30565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7: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Gráfico de Rosca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FBD4B76-8627-7F1D-1DF1-77F6F9D8A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73" b="37373"/>
          <a:stretch/>
        </p:blipFill>
        <p:spPr bwMode="auto">
          <a:xfrm>
            <a:off x="3312156" y="2791179"/>
            <a:ext cx="2520000" cy="12753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5A23E976-BFB6-22F6-3E91-024D648C5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34" r="-241" b="-1534"/>
          <a:stretch>
            <a:fillRect/>
          </a:stretch>
        </p:blipFill>
        <p:spPr bwMode="auto">
          <a:xfrm>
            <a:off x="6270302" y="5187270"/>
            <a:ext cx="2602320" cy="12753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7539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68BAA5A8-DAFF-5FD8-22F4-C6AF1A13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86E194D6-3D6B-A4D8-1A84-DBA23EE988AB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93B82116-FD90-1C7B-BC04-455B13132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Clusterização: K-</a:t>
            </a:r>
            <a:r>
              <a:rPr lang="pt-BR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means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B1907C69-F210-3C93-C9AC-8304ECF76A5F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08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02D0A2A4-A43A-A776-A5C5-7874A07BCE06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03260D-FADA-0840-33DE-D1EAAD69F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135" y="3446905"/>
            <a:ext cx="5359894" cy="177164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DEAA347-A11B-BCC7-D783-949EF20E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54918" y="2600895"/>
            <a:ext cx="5382000" cy="34636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63C429E1-D00B-BAC3-03B7-4ACB3DBDF5E2}"/>
              </a:ext>
            </a:extLst>
          </p:cNvPr>
          <p:cNvSpPr txBox="1"/>
          <p:nvPr/>
        </p:nvSpPr>
        <p:spPr>
          <a:xfrm>
            <a:off x="-7371" y="1866218"/>
            <a:ext cx="61033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1: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Métodos do Cotovelo e da Silhueta</a:t>
            </a:r>
          </a:p>
        </p:txBody>
      </p:sp>
      <p:sp>
        <p:nvSpPr>
          <p:cNvPr id="10" name="Google Shape;156;p5">
            <a:extLst>
              <a:ext uri="{FF2B5EF4-FFF2-40B4-BE49-F238E27FC236}">
                <a16:creationId xmlns:a16="http://schemas.microsoft.com/office/drawing/2014/main" id="{5B5C905D-E256-6113-FFB7-33916C6567DC}"/>
              </a:ext>
            </a:extLst>
          </p:cNvPr>
          <p:cNvSpPr txBox="1"/>
          <p:nvPr/>
        </p:nvSpPr>
        <p:spPr>
          <a:xfrm>
            <a:off x="6103371" y="1866218"/>
            <a:ext cx="6088629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2: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Modelo K-</a:t>
            </a:r>
            <a:r>
              <a:rPr lang="pt-BR" dirty="0" err="1">
                <a:latin typeface="Montserrat" pitchFamily="2" charset="0"/>
              </a:rPr>
              <a:t>means</a:t>
            </a:r>
            <a:endParaRPr lang="pt-BR" dirty="0">
              <a:latin typeface="Montserrat" pitchFamily="2" charset="0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B7AC547D-FFCD-0DFC-55C1-DD6216FCD715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2859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ACF9E734-E489-CEF2-D1DD-2D95B18E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6571B6DB-DBFF-3FBF-DA2E-72C7905D4E82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7D2D26BD-DB45-2E1D-DDEC-82ACD1A062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Clusterização: Estatística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C561A0ED-80F3-E779-451A-3AA27F38F7E3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09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68E3A5FC-25ED-E5CE-960E-81551D48E108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313AD5-EFBE-D00F-A7C5-8861A6F3A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09"/>
          <a:stretch>
            <a:fillRect/>
          </a:stretch>
        </p:blipFill>
        <p:spPr bwMode="auto">
          <a:xfrm>
            <a:off x="1359310" y="2488828"/>
            <a:ext cx="2236955" cy="396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211449-0101-3FF4-5338-FB70A941A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04688" y="2488828"/>
            <a:ext cx="2257994" cy="396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47CE1730-0183-D67A-CFB0-D31A8EA59784}"/>
              </a:ext>
            </a:extLst>
          </p:cNvPr>
          <p:cNvSpPr txBox="1"/>
          <p:nvPr/>
        </p:nvSpPr>
        <p:spPr>
          <a:xfrm>
            <a:off x="-540536" y="1866218"/>
            <a:ext cx="61033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1: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Gráficos de Dispersão</a:t>
            </a:r>
          </a:p>
        </p:txBody>
      </p:sp>
      <p:sp>
        <p:nvSpPr>
          <p:cNvPr id="10" name="Google Shape;156;p5">
            <a:extLst>
              <a:ext uri="{FF2B5EF4-FFF2-40B4-BE49-F238E27FC236}">
                <a16:creationId xmlns:a16="http://schemas.microsoft.com/office/drawing/2014/main" id="{EA2D9E44-9E14-CC9D-0DA9-14F4D07F37AA}"/>
              </a:ext>
            </a:extLst>
          </p:cNvPr>
          <p:cNvSpPr txBox="1"/>
          <p:nvPr/>
        </p:nvSpPr>
        <p:spPr>
          <a:xfrm>
            <a:off x="6489371" y="1834477"/>
            <a:ext cx="6088629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3: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Diagramas de Caixa</a:t>
            </a: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FA1F5512-C2E5-A2E7-5D4B-AFA1796A4D5B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1AB9956-2CB8-32AF-B57D-FC01F9F61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71"/>
          <a:stretch>
            <a:fillRect/>
          </a:stretch>
        </p:blipFill>
        <p:spPr bwMode="auto">
          <a:xfrm>
            <a:off x="4880119" y="2488828"/>
            <a:ext cx="2243623" cy="396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5" name="Google Shape;156;p5">
            <a:extLst>
              <a:ext uri="{FF2B5EF4-FFF2-40B4-BE49-F238E27FC236}">
                <a16:creationId xmlns:a16="http://schemas.microsoft.com/office/drawing/2014/main" id="{BEDC4A13-E46E-C2A6-1DD7-2FE19D510D85}"/>
              </a:ext>
            </a:extLst>
          </p:cNvPr>
          <p:cNvSpPr txBox="1"/>
          <p:nvPr/>
        </p:nvSpPr>
        <p:spPr>
          <a:xfrm>
            <a:off x="2990253" y="1861500"/>
            <a:ext cx="61033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2: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Histogramas</a:t>
            </a:r>
          </a:p>
        </p:txBody>
      </p:sp>
    </p:spTree>
    <p:extLst>
      <p:ext uri="{BB962C8B-B14F-4D97-AF65-F5344CB8AC3E}">
        <p14:creationId xmlns:p14="http://schemas.microsoft.com/office/powerpoint/2010/main" val="2518445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D475B594-8A17-7811-5CB1-F70EEF9B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270;p8">
            <a:extLst>
              <a:ext uri="{FF2B5EF4-FFF2-40B4-BE49-F238E27FC236}">
                <a16:creationId xmlns:a16="http://schemas.microsoft.com/office/drawing/2014/main" id="{92C79963-9DF0-DB5B-8413-4F5E9E794BEC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BA2E195-1DBC-DA3C-6969-77088E581C1C}"/>
              </a:ext>
            </a:extLst>
          </p:cNvPr>
          <p:cNvGraphicFramePr>
            <a:graphicFrameLocks noGrp="1"/>
          </p:cNvGraphicFramePr>
          <p:nvPr/>
        </p:nvGraphicFramePr>
        <p:xfrm>
          <a:off x="1225550" y="1821667"/>
          <a:ext cx="9740901" cy="392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6967">
                  <a:extLst>
                    <a:ext uri="{9D8B030D-6E8A-4147-A177-3AD203B41FA5}">
                      <a16:colId xmlns:a16="http://schemas.microsoft.com/office/drawing/2014/main" val="215073668"/>
                    </a:ext>
                  </a:extLst>
                </a:gridCol>
                <a:gridCol w="3246967">
                  <a:extLst>
                    <a:ext uri="{9D8B030D-6E8A-4147-A177-3AD203B41FA5}">
                      <a16:colId xmlns:a16="http://schemas.microsoft.com/office/drawing/2014/main" val="3148904341"/>
                    </a:ext>
                  </a:extLst>
                </a:gridCol>
                <a:gridCol w="3246967">
                  <a:extLst>
                    <a:ext uri="{9D8B030D-6E8A-4147-A177-3AD203B41FA5}">
                      <a16:colId xmlns:a16="http://schemas.microsoft.com/office/drawing/2014/main" val="2640755020"/>
                    </a:ext>
                  </a:extLst>
                </a:gridCol>
              </a:tblGrid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Cluster 0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F2440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Cluster 1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7C87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u="none" strike="noStrike" dirty="0">
                          <a:solidFill>
                            <a:schemeClr val="bg1"/>
                          </a:solidFill>
                          <a:effectLst/>
                          <a:latin typeface="Montserrat" pitchFamily="2" charset="0"/>
                        </a:rPr>
                        <a:t>Cluster 2</a:t>
                      </a:r>
                      <a:endParaRPr lang="pt-BR" sz="1200" b="1" i="0" u="none" strike="noStrike" dirty="0">
                        <a:solidFill>
                          <a:schemeClr val="bg1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>
                    <a:solidFill>
                      <a:srgbClr val="7C87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517108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Renda alta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Renda baixa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Renda média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2093665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muitas compras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poucas compras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muitas compras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80011744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Gasta muito em compras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Gasta pouco em compras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Gasta moderadamente em compras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79300469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Provavelmente não tem filhos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Provavelmente tem filhos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Provavelmente tem filhos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72160528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poucas compras com desconto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algumas compras com desconto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Faz muitas compras com desconto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77399919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Visita pouco o site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Visita muito o site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Visita muito o site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1371350"/>
                  </a:ext>
                </a:extLst>
              </a:tr>
              <a:tr h="67639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Alta escolaridade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Único grupo que tem pessoas com escolaridade baixa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Alta escolaridade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03416997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Aceita campanhas facilmente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Dificilmente aceita campanhas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Pode aceitar campanhas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63166663"/>
                  </a:ext>
                </a:extLst>
              </a:tr>
              <a:tr h="3607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É cliente há menos tempo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É cliente há menos tempo</a:t>
                      </a:r>
                      <a:endParaRPr lang="pt-BR" sz="1200" b="0" i="0" u="none" strike="noStrike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u="none" strike="noStrike" dirty="0">
                          <a:solidFill>
                            <a:srgbClr val="7F7F7F"/>
                          </a:solidFill>
                          <a:effectLst/>
                          <a:latin typeface="Montserrat" pitchFamily="2" charset="0"/>
                        </a:rPr>
                        <a:t>É cliente há mais tempo</a:t>
                      </a:r>
                      <a:endParaRPr lang="pt-BR" sz="1200" b="0" i="0" u="none" strike="noStrike" dirty="0">
                        <a:solidFill>
                          <a:srgbClr val="7F7F7F"/>
                        </a:solidFill>
                        <a:effectLst/>
                        <a:latin typeface="Montserrat" pitchFamily="2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87164705"/>
                  </a:ext>
                </a:extLst>
              </a:tr>
            </a:tbl>
          </a:graphicData>
        </a:graphic>
      </p:graphicFrame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1616675D-F5B9-1EF4-57F7-E7441D0A38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Clusterização: Clusters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9283B0FE-50BC-5E67-2CDB-966C46D3299B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cs typeface="Poppins ExtraLight"/>
                <a:sym typeface="Poppins ExtraLight"/>
              </a:rPr>
              <a:t>10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293;p8">
            <a:extLst>
              <a:ext uri="{FF2B5EF4-FFF2-40B4-BE49-F238E27FC236}">
                <a16:creationId xmlns:a16="http://schemas.microsoft.com/office/drawing/2014/main" id="{16B61FF4-9997-5988-ADA5-631F278A0D0C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294;p8">
            <a:extLst>
              <a:ext uri="{FF2B5EF4-FFF2-40B4-BE49-F238E27FC236}">
                <a16:creationId xmlns:a16="http://schemas.microsoft.com/office/drawing/2014/main" id="{E02B9A01-C57A-0A9F-3E2D-E390BB797021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6224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D6972ABD-A574-4739-7B5D-C90D9E2A3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216F9079-ECC7-C283-8838-75FF1034248C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A2BA8CC8-8BD8-8D14-D8A0-DD2D4F9B70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Classificação: Seleção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C1D5C0EC-3021-9F2A-BBE0-B3832653BC05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cs typeface="Poppins ExtraLight"/>
                <a:sym typeface="Poppins ExtraLight"/>
              </a:rPr>
              <a:t>11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DD1075E1-BD53-FE72-848D-369EB88AC0D3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7ED60226-40B2-F0C6-2473-AD0B5F0DCC09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156;p5">
            <a:extLst>
              <a:ext uri="{FF2B5EF4-FFF2-40B4-BE49-F238E27FC236}">
                <a16:creationId xmlns:a16="http://schemas.microsoft.com/office/drawing/2014/main" id="{7998569F-689B-54E3-9545-3FBD2D211581}"/>
              </a:ext>
            </a:extLst>
          </p:cNvPr>
          <p:cNvSpPr txBox="1"/>
          <p:nvPr/>
        </p:nvSpPr>
        <p:spPr>
          <a:xfrm>
            <a:off x="-7371" y="1866218"/>
            <a:ext cx="1219937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pt-BR" b="1" dirty="0">
                <a:solidFill>
                  <a:srgbClr val="FF6200"/>
                </a:solidFill>
                <a:latin typeface="Montserrat" pitchFamily="2" charset="0"/>
              </a:rPr>
              <a:t>Modelo Selecionado:</a:t>
            </a:r>
            <a:r>
              <a:rPr lang="pt-BR" b="1" dirty="0">
                <a:latin typeface="Montserrat" pitchFamily="2" charset="0"/>
              </a:rPr>
              <a:t> </a:t>
            </a:r>
            <a:r>
              <a:rPr lang="pt-BR" dirty="0">
                <a:latin typeface="Montserrat" pitchFamily="2" charset="0"/>
              </a:rPr>
              <a:t>Regressão Logística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C284CC-B4FC-5523-88BC-17DA86B65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53"/>
          <a:stretch>
            <a:fillRect/>
          </a:stretch>
        </p:blipFill>
        <p:spPr bwMode="auto">
          <a:xfrm>
            <a:off x="1311339" y="2624787"/>
            <a:ext cx="4359883" cy="396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4CE2372-8580-353D-372E-59CCB2A29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53"/>
          <a:stretch>
            <a:fillRect/>
          </a:stretch>
        </p:blipFill>
        <p:spPr bwMode="auto">
          <a:xfrm>
            <a:off x="6211758" y="2636005"/>
            <a:ext cx="4359883" cy="39600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48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3390A0A1-3EFB-6222-02A6-DDD9B726A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70;p8">
            <a:extLst>
              <a:ext uri="{FF2B5EF4-FFF2-40B4-BE49-F238E27FC236}">
                <a16:creationId xmlns:a16="http://schemas.microsoft.com/office/drawing/2014/main" id="{57191FC6-B2B2-FF1A-7504-573FE99BCC16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68A041B6-3EE7-B25A-0EBD-66321D9610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Modelo de Classificação: Otimização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058ABAFA-7155-E4E9-8020-ABF0F6935A03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12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4" name="Google Shape;293;p8">
            <a:extLst>
              <a:ext uri="{FF2B5EF4-FFF2-40B4-BE49-F238E27FC236}">
                <a16:creationId xmlns:a16="http://schemas.microsoft.com/office/drawing/2014/main" id="{60592DF5-BA07-0C08-7392-30C68D960BEB}"/>
              </a:ext>
            </a:extLst>
          </p:cNvPr>
          <p:cNvSpPr/>
          <p:nvPr/>
        </p:nvSpPr>
        <p:spPr>
          <a:xfrm rot="189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94;p8">
            <a:extLst>
              <a:ext uri="{FF2B5EF4-FFF2-40B4-BE49-F238E27FC236}">
                <a16:creationId xmlns:a16="http://schemas.microsoft.com/office/drawing/2014/main" id="{838F1440-E8A0-C8E4-78FC-327CE2678157}"/>
              </a:ext>
            </a:extLst>
          </p:cNvPr>
          <p:cNvSpPr/>
          <p:nvPr/>
        </p:nvSpPr>
        <p:spPr>
          <a:xfrm rot="189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A0AA0CB-A19B-A60C-7E33-5E3B0E0A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02979" y="2298558"/>
            <a:ext cx="8186042" cy="40683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967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ED2181B9-6895-96A0-A410-5738FCFB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5">
            <a:extLst>
              <a:ext uri="{FF2B5EF4-FFF2-40B4-BE49-F238E27FC236}">
                <a16:creationId xmlns:a16="http://schemas.microsoft.com/office/drawing/2014/main" id="{2857B825-522A-24B6-3C68-50D2258E7555}"/>
              </a:ext>
            </a:extLst>
          </p:cNvPr>
          <p:cNvPicPr preferRelativeResize="0"/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0" r="8150"/>
          <a:stretch/>
        </p:blipFill>
        <p:spPr>
          <a:xfrm>
            <a:off x="3952042" y="0"/>
            <a:ext cx="86439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1F3B30C1-3E01-733A-F897-F7D70C0A4E18}"/>
              </a:ext>
            </a:extLst>
          </p:cNvPr>
          <p:cNvSpPr/>
          <p:nvPr/>
        </p:nvSpPr>
        <p:spPr>
          <a:xfrm>
            <a:off x="0" y="0"/>
            <a:ext cx="10788444" cy="6858000"/>
          </a:xfrm>
          <a:custGeom>
            <a:avLst/>
            <a:gdLst/>
            <a:ahLst/>
            <a:cxnLst/>
            <a:rect l="l" t="t" r="r" b="b"/>
            <a:pathLst>
              <a:path w="10788444" h="6858000" extrusionOk="0">
                <a:moveTo>
                  <a:pt x="0" y="0"/>
                </a:moveTo>
                <a:lnTo>
                  <a:pt x="3930444" y="0"/>
                </a:lnTo>
                <a:lnTo>
                  <a:pt x="107884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06931FB4-B243-4092-422A-97705B03C2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2200" y="1089025"/>
            <a:ext cx="10007600" cy="76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Overfitting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158" name="Google Shape;158;p5">
            <a:extLst>
              <a:ext uri="{FF2B5EF4-FFF2-40B4-BE49-F238E27FC236}">
                <a16:creationId xmlns:a16="http://schemas.microsoft.com/office/drawing/2014/main" id="{8B971EBB-0A83-CA19-F382-C3EE48A03A39}"/>
              </a:ext>
            </a:extLst>
          </p:cNvPr>
          <p:cNvSpPr txBox="1"/>
          <p:nvPr/>
        </p:nvSpPr>
        <p:spPr>
          <a:xfrm>
            <a:off x="259773" y="1147362"/>
            <a:ext cx="83242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13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" name="Google Shape;155;p5">
            <a:extLst>
              <a:ext uri="{FF2B5EF4-FFF2-40B4-BE49-F238E27FC236}">
                <a16:creationId xmlns:a16="http://schemas.microsoft.com/office/drawing/2014/main" id="{223E0A8A-5866-7CB6-44CB-B4F3BAB3F0BB}"/>
              </a:ext>
            </a:extLst>
          </p:cNvPr>
          <p:cNvSpPr/>
          <p:nvPr/>
        </p:nvSpPr>
        <p:spPr>
          <a:xfrm rot="18900000">
            <a:off x="7070723" y="3858345"/>
            <a:ext cx="7406645" cy="3864826"/>
          </a:xfrm>
          <a:custGeom>
            <a:avLst/>
            <a:gdLst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0 w 7406645"/>
              <a:gd name="connsiteY3" fmla="*/ 3864826 h 3864826"/>
              <a:gd name="connsiteX4" fmla="*/ 0 w 7406645"/>
              <a:gd name="connsiteY4" fmla="*/ 0 h 3864826"/>
              <a:gd name="connsiteX0" fmla="*/ 0 w 7406645"/>
              <a:gd name="connsiteY0" fmla="*/ 0 h 3864826"/>
              <a:gd name="connsiteX1" fmla="*/ 7406645 w 7406645"/>
              <a:gd name="connsiteY1" fmla="*/ 0 h 3864826"/>
              <a:gd name="connsiteX2" fmla="*/ 7406645 w 7406645"/>
              <a:gd name="connsiteY2" fmla="*/ 3864826 h 3864826"/>
              <a:gd name="connsiteX3" fmla="*/ 3908860 w 7406645"/>
              <a:gd name="connsiteY3" fmla="*/ 3850131 h 3864826"/>
              <a:gd name="connsiteX4" fmla="*/ 0 w 7406645"/>
              <a:gd name="connsiteY4" fmla="*/ 0 h 386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06645" h="3864826">
                <a:moveTo>
                  <a:pt x="0" y="0"/>
                </a:moveTo>
                <a:lnTo>
                  <a:pt x="7406645" y="0"/>
                </a:lnTo>
                <a:lnTo>
                  <a:pt x="7406645" y="3864826"/>
                </a:lnTo>
                <a:lnTo>
                  <a:pt x="3908860" y="3850131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156;p5">
            <a:extLst>
              <a:ext uri="{FF2B5EF4-FFF2-40B4-BE49-F238E27FC236}">
                <a16:creationId xmlns:a16="http://schemas.microsoft.com/office/drawing/2014/main" id="{65B576DD-E39A-01A0-AF1A-6B751FD1562F}"/>
              </a:ext>
            </a:extLst>
          </p:cNvPr>
          <p:cNvSpPr txBox="1"/>
          <p:nvPr/>
        </p:nvSpPr>
        <p:spPr>
          <a:xfrm>
            <a:off x="1092200" y="2232844"/>
            <a:ext cx="9715405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000" b="1" dirty="0">
                <a:solidFill>
                  <a:srgbClr val="FF6200"/>
                </a:solidFill>
                <a:latin typeface="Montserrat" pitchFamily="2" charset="0"/>
              </a:rPr>
              <a:t>Boas práticas aplicadas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Seleção de features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Balanceamento de classes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Validação cruzada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pt-BR" dirty="0">
                <a:latin typeface="Montserrat" pitchFamily="2" charset="0"/>
              </a:rPr>
              <a:t>Otimização de </a:t>
            </a:r>
            <a:r>
              <a:rPr lang="pt-BR" dirty="0" err="1">
                <a:latin typeface="Montserrat" pitchFamily="2" charset="0"/>
              </a:rPr>
              <a:t>hiperparâmetros</a:t>
            </a:r>
            <a:endParaRPr lang="pt-BR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32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 dir="r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5A23C617-DFC9-6302-FDE6-1284A0438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70;p8">
            <a:extLst>
              <a:ext uri="{FF2B5EF4-FFF2-40B4-BE49-F238E27FC236}">
                <a16:creationId xmlns:a16="http://schemas.microsoft.com/office/drawing/2014/main" id="{8BE19FBA-9691-E1B1-BC38-CEB0B58ED40D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>
            <a:extLst>
              <a:ext uri="{FF2B5EF4-FFF2-40B4-BE49-F238E27FC236}">
                <a16:creationId xmlns:a16="http://schemas.microsoft.com/office/drawing/2014/main" id="{FAB94367-C07C-6539-C2EB-D0B9A72E519E}"/>
              </a:ext>
            </a:extLst>
          </p:cNvPr>
          <p:cNvSpPr/>
          <p:nvPr/>
        </p:nvSpPr>
        <p:spPr>
          <a:xfrm rot="-27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0B52C5BC-02E4-E18E-3243-7564542C9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Deploy</a:t>
            </a: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 em Produção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DF1DB036-F67B-2CDB-B464-0B57D48F1775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cs typeface="Poppins ExtraLight"/>
                <a:sym typeface="Poppins ExtraLight"/>
              </a:rPr>
              <a:t>14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94" name="Google Shape;294;p8">
            <a:extLst>
              <a:ext uri="{FF2B5EF4-FFF2-40B4-BE49-F238E27FC236}">
                <a16:creationId xmlns:a16="http://schemas.microsoft.com/office/drawing/2014/main" id="{7A3D6CC3-4E73-A38E-9D4F-F4EFBB50724D}"/>
              </a:ext>
            </a:extLst>
          </p:cNvPr>
          <p:cNvSpPr/>
          <p:nvPr/>
        </p:nvSpPr>
        <p:spPr>
          <a:xfrm rot="-27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5B4A99-CCAC-BDCC-9842-DDE707C7D8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5" b="1253"/>
          <a:stretch/>
        </p:blipFill>
        <p:spPr>
          <a:xfrm>
            <a:off x="3171913" y="1934344"/>
            <a:ext cx="5848173" cy="23697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AAB2C83-08BB-1F25-507C-BD9C959EF5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58"/>
          <a:stretch/>
        </p:blipFill>
        <p:spPr>
          <a:xfrm>
            <a:off x="3171913" y="4528965"/>
            <a:ext cx="5848173" cy="21041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7719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43A44F8F-6B14-F03D-F181-52BC5385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70;p8">
            <a:extLst>
              <a:ext uri="{FF2B5EF4-FFF2-40B4-BE49-F238E27FC236}">
                <a16:creationId xmlns:a16="http://schemas.microsoft.com/office/drawing/2014/main" id="{3EA0F98C-F55C-0650-7070-B1B0C690AA45}"/>
              </a:ext>
            </a:extLst>
          </p:cNvPr>
          <p:cNvPicPr preferRelativeResize="0"/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312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>
            <a:extLst>
              <a:ext uri="{FF2B5EF4-FFF2-40B4-BE49-F238E27FC236}">
                <a16:creationId xmlns:a16="http://schemas.microsoft.com/office/drawing/2014/main" id="{F19F8C42-E0AA-F1A8-4B00-6DFE3D2C362A}"/>
              </a:ext>
            </a:extLst>
          </p:cNvPr>
          <p:cNvSpPr/>
          <p:nvPr/>
        </p:nvSpPr>
        <p:spPr>
          <a:xfrm rot="-2700000">
            <a:off x="-168568" y="-504451"/>
            <a:ext cx="1728000" cy="1767845"/>
          </a:xfrm>
          <a:custGeom>
            <a:avLst/>
            <a:gdLst>
              <a:gd name="connsiteX0" fmla="*/ 0 w 1728000"/>
              <a:gd name="connsiteY0" fmla="*/ 0 h 1673383"/>
              <a:gd name="connsiteX1" fmla="*/ 1728000 w 1728000"/>
              <a:gd name="connsiteY1" fmla="*/ 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0 h 1673383"/>
              <a:gd name="connsiteX1" fmla="*/ 1705958 w 1728000"/>
              <a:gd name="connsiteY1" fmla="*/ 903740 h 1673383"/>
              <a:gd name="connsiteX2" fmla="*/ 1728000 w 1728000"/>
              <a:gd name="connsiteY2" fmla="*/ 1673383 h 1673383"/>
              <a:gd name="connsiteX3" fmla="*/ 0 w 1728000"/>
              <a:gd name="connsiteY3" fmla="*/ 1673383 h 1673383"/>
              <a:gd name="connsiteX4" fmla="*/ 0 w 1728000"/>
              <a:gd name="connsiteY4" fmla="*/ 0 h 1673383"/>
              <a:gd name="connsiteX0" fmla="*/ 0 w 1728000"/>
              <a:gd name="connsiteY0" fmla="*/ 94462 h 1767845"/>
              <a:gd name="connsiteX1" fmla="*/ 1705958 w 1728000"/>
              <a:gd name="connsiteY1" fmla="*/ 998202 h 1767845"/>
              <a:gd name="connsiteX2" fmla="*/ 1728000 w 1728000"/>
              <a:gd name="connsiteY2" fmla="*/ 1767845 h 1767845"/>
              <a:gd name="connsiteX3" fmla="*/ 0 w 1728000"/>
              <a:gd name="connsiteY3" fmla="*/ 1767845 h 1767845"/>
              <a:gd name="connsiteX4" fmla="*/ 0 w 1728000"/>
              <a:gd name="connsiteY4" fmla="*/ 94462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000" h="1767845">
                <a:moveTo>
                  <a:pt x="0" y="94462"/>
                </a:moveTo>
                <a:cubicBezTo>
                  <a:pt x="568653" y="395709"/>
                  <a:pt x="-30945" y="-750498"/>
                  <a:pt x="1705958" y="998202"/>
                </a:cubicBezTo>
                <a:lnTo>
                  <a:pt x="1728000" y="1767845"/>
                </a:lnTo>
                <a:lnTo>
                  <a:pt x="0" y="1767845"/>
                </a:lnTo>
                <a:lnTo>
                  <a:pt x="0" y="94462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Google Shape;303;p9">
            <a:extLst>
              <a:ext uri="{FF2B5EF4-FFF2-40B4-BE49-F238E27FC236}">
                <a16:creationId xmlns:a16="http://schemas.microsoft.com/office/drawing/2014/main" id="{08DAF915-7FAC-880E-6C77-7329D47C00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9319" y="1044529"/>
            <a:ext cx="10007600" cy="76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4405"/>
              </a:buClr>
              <a:buSzPts val="4400"/>
              <a:buFont typeface="Poppins SemiBold"/>
              <a:buNone/>
            </a:pPr>
            <a:r>
              <a:rPr lang="pt-B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0"/>
              </a:rPr>
              <a:t>Conclusão</a:t>
            </a:r>
            <a:endParaRPr sz="40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0"/>
            </a:endParaRPr>
          </a:p>
        </p:txBody>
      </p:sp>
      <p:sp>
        <p:nvSpPr>
          <p:cNvPr id="7" name="Google Shape;306;p9">
            <a:extLst>
              <a:ext uri="{FF2B5EF4-FFF2-40B4-BE49-F238E27FC236}">
                <a16:creationId xmlns:a16="http://schemas.microsoft.com/office/drawing/2014/main" id="{DDADF644-098C-F47B-1A25-840A02093094}"/>
              </a:ext>
            </a:extLst>
          </p:cNvPr>
          <p:cNvSpPr txBox="1"/>
          <p:nvPr/>
        </p:nvSpPr>
        <p:spPr>
          <a:xfrm>
            <a:off x="963376" y="1102866"/>
            <a:ext cx="86594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dirty="0">
                <a:solidFill>
                  <a:srgbClr val="FF6200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15</a:t>
            </a:r>
            <a:endParaRPr sz="1600" dirty="0">
              <a:solidFill>
                <a:srgbClr val="FF6200"/>
              </a:solidFill>
            </a:endParaRPr>
          </a:p>
        </p:txBody>
      </p:sp>
      <p:sp>
        <p:nvSpPr>
          <p:cNvPr id="294" name="Google Shape;294;p8">
            <a:extLst>
              <a:ext uri="{FF2B5EF4-FFF2-40B4-BE49-F238E27FC236}">
                <a16:creationId xmlns:a16="http://schemas.microsoft.com/office/drawing/2014/main" id="{C161F4DA-4C75-D283-BC33-C2F358D7DF68}"/>
              </a:ext>
            </a:extLst>
          </p:cNvPr>
          <p:cNvSpPr/>
          <p:nvPr/>
        </p:nvSpPr>
        <p:spPr>
          <a:xfrm rot="-2700000">
            <a:off x="11094582" y="4987076"/>
            <a:ext cx="2008112" cy="1672123"/>
          </a:xfrm>
          <a:prstGeom prst="rect">
            <a:avLst/>
          </a:pr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Google Shape;156;p5">
            <a:extLst>
              <a:ext uri="{FF2B5EF4-FFF2-40B4-BE49-F238E27FC236}">
                <a16:creationId xmlns:a16="http://schemas.microsoft.com/office/drawing/2014/main" id="{57B2BB6E-D4A6-F6AC-E705-58BF284E4CB0}"/>
              </a:ext>
            </a:extLst>
          </p:cNvPr>
          <p:cNvSpPr txBox="1"/>
          <p:nvPr/>
        </p:nvSpPr>
        <p:spPr>
          <a:xfrm>
            <a:off x="1082072" y="1860026"/>
            <a:ext cx="971540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pt-BR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7F7F7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dirty="0">
                <a:latin typeface="Montserrat" pitchFamily="2" charset="0"/>
              </a:rPr>
              <a:t>	Esse estudo evidencia como a combinação de modelos de machine learning de clusterização e classificação pode transformar a abordagem de marketing em plataformas de delivery, passando de apenas reativas para preditivas. Ao mapear perfis de clientes e antecipar comportamentos, a empresa está mais bem posicionada para desenvolver produtos, ofertas e estratégias que tenham sucesso com diferentes perfis de consumidores.</a:t>
            </a:r>
          </a:p>
        </p:txBody>
      </p:sp>
    </p:spTree>
    <p:extLst>
      <p:ext uri="{BB962C8B-B14F-4D97-AF65-F5344CB8AC3E}">
        <p14:creationId xmlns:p14="http://schemas.microsoft.com/office/powerpoint/2010/main" val="192467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7"/>
          <p:cNvSpPr txBox="1"/>
          <p:nvPr/>
        </p:nvSpPr>
        <p:spPr>
          <a:xfrm>
            <a:off x="2941179" y="2644170"/>
            <a:ext cx="630964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00" dirty="0">
                <a:solidFill>
                  <a:srgbClr val="FF6200"/>
                </a:solidFill>
                <a:latin typeface="Poppins Black"/>
                <a:ea typeface="Poppins Black"/>
                <a:cs typeface="Poppins Black"/>
                <a:sym typeface="Poppins Black"/>
              </a:rPr>
              <a:t>Obrigado</a:t>
            </a:r>
            <a:endParaRPr dirty="0">
              <a:solidFill>
                <a:srgbClr val="FF6200"/>
              </a:solidFill>
            </a:endParaRPr>
          </a:p>
        </p:txBody>
      </p:sp>
      <p:sp>
        <p:nvSpPr>
          <p:cNvPr id="502" name="Google Shape;502;p17"/>
          <p:cNvSpPr/>
          <p:nvPr/>
        </p:nvSpPr>
        <p:spPr>
          <a:xfrm rot="-2700000">
            <a:off x="202032" y="-1060032"/>
            <a:ext cx="1780335" cy="1780335"/>
          </a:xfrm>
          <a:custGeom>
            <a:avLst/>
            <a:gdLst>
              <a:gd name="connsiteX0" fmla="*/ 0 w 1780335"/>
              <a:gd name="connsiteY0" fmla="*/ 0 h 1780335"/>
              <a:gd name="connsiteX1" fmla="*/ 1780335 w 1780335"/>
              <a:gd name="connsiteY1" fmla="*/ 0 h 1780335"/>
              <a:gd name="connsiteX2" fmla="*/ 1780335 w 1780335"/>
              <a:gd name="connsiteY2" fmla="*/ 1780335 h 1780335"/>
              <a:gd name="connsiteX3" fmla="*/ 0 w 1780335"/>
              <a:gd name="connsiteY3" fmla="*/ 1780335 h 1780335"/>
              <a:gd name="connsiteX4" fmla="*/ 0 w 1780335"/>
              <a:gd name="connsiteY4" fmla="*/ 0 h 1780335"/>
              <a:gd name="connsiteX0" fmla="*/ 0 w 1780335"/>
              <a:gd name="connsiteY0" fmla="*/ 0 h 1780335"/>
              <a:gd name="connsiteX1" fmla="*/ 898637 w 1780335"/>
              <a:gd name="connsiteY1" fmla="*/ 896393 h 1780335"/>
              <a:gd name="connsiteX2" fmla="*/ 1780335 w 1780335"/>
              <a:gd name="connsiteY2" fmla="*/ 1780335 h 1780335"/>
              <a:gd name="connsiteX3" fmla="*/ 0 w 1780335"/>
              <a:gd name="connsiteY3" fmla="*/ 1780335 h 1780335"/>
              <a:gd name="connsiteX4" fmla="*/ 0 w 1780335"/>
              <a:gd name="connsiteY4" fmla="*/ 0 h 1780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0335" h="1780335">
                <a:moveTo>
                  <a:pt x="0" y="0"/>
                </a:moveTo>
                <a:lnTo>
                  <a:pt x="898637" y="896393"/>
                </a:lnTo>
                <a:lnTo>
                  <a:pt x="1780335" y="1780335"/>
                </a:lnTo>
                <a:lnTo>
                  <a:pt x="0" y="1780335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3" name="Google Shape;503;p17"/>
          <p:cNvSpPr/>
          <p:nvPr/>
        </p:nvSpPr>
        <p:spPr>
          <a:xfrm rot="-2700000">
            <a:off x="9449826" y="5041734"/>
            <a:ext cx="4174916" cy="2323100"/>
          </a:xfrm>
          <a:custGeom>
            <a:avLst/>
            <a:gdLst>
              <a:gd name="connsiteX0" fmla="*/ 0 w 4174916"/>
              <a:gd name="connsiteY0" fmla="*/ 0 h 2264320"/>
              <a:gd name="connsiteX1" fmla="*/ 4174916 w 4174916"/>
              <a:gd name="connsiteY1" fmla="*/ 0 h 2264320"/>
              <a:gd name="connsiteX2" fmla="*/ 4174916 w 4174916"/>
              <a:gd name="connsiteY2" fmla="*/ 2264320 h 2264320"/>
              <a:gd name="connsiteX3" fmla="*/ 0 w 4174916"/>
              <a:gd name="connsiteY3" fmla="*/ 2264320 h 2264320"/>
              <a:gd name="connsiteX4" fmla="*/ 0 w 4174916"/>
              <a:gd name="connsiteY4" fmla="*/ 0 h 2264320"/>
              <a:gd name="connsiteX0" fmla="*/ 0 w 4174916"/>
              <a:gd name="connsiteY0" fmla="*/ 0 h 2323100"/>
              <a:gd name="connsiteX1" fmla="*/ 4174916 w 4174916"/>
              <a:gd name="connsiteY1" fmla="*/ 0 h 2323100"/>
              <a:gd name="connsiteX2" fmla="*/ 4174916 w 4174916"/>
              <a:gd name="connsiteY2" fmla="*/ 2264320 h 2323100"/>
              <a:gd name="connsiteX3" fmla="*/ 2307110 w 4174916"/>
              <a:gd name="connsiteY3" fmla="*/ 2323100 h 2323100"/>
              <a:gd name="connsiteX4" fmla="*/ 0 w 4174916"/>
              <a:gd name="connsiteY4" fmla="*/ 0 h 232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4916" h="2323100">
                <a:moveTo>
                  <a:pt x="0" y="0"/>
                </a:moveTo>
                <a:lnTo>
                  <a:pt x="4174916" y="0"/>
                </a:lnTo>
                <a:lnTo>
                  <a:pt x="4174916" y="2264320"/>
                </a:lnTo>
                <a:lnTo>
                  <a:pt x="2307110" y="2323100"/>
                </a:lnTo>
                <a:lnTo>
                  <a:pt x="0" y="0"/>
                </a:lnTo>
                <a:close/>
              </a:path>
            </a:pathLst>
          </a:custGeom>
          <a:solidFill>
            <a:srgbClr val="2C3D7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2848</TotalTime>
  <Words>838</Words>
  <Application>Microsoft Office PowerPoint</Application>
  <PresentationFormat>Widescreen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Aptos</vt:lpstr>
      <vt:lpstr>Aptos Display</vt:lpstr>
      <vt:lpstr>Arial</vt:lpstr>
      <vt:lpstr>Montserrat</vt:lpstr>
      <vt:lpstr>Open Sans</vt:lpstr>
      <vt:lpstr>Poppins Black</vt:lpstr>
      <vt:lpstr>Poppins ExtraLight</vt:lpstr>
      <vt:lpstr>Poppins SemiBold</vt:lpstr>
      <vt:lpstr>Tema do Office</vt:lpstr>
      <vt:lpstr>Apresentação do PowerPoint</vt:lpstr>
      <vt:lpstr>Objetivo</vt:lpstr>
      <vt:lpstr>Introdução</vt:lpstr>
      <vt:lpstr>EDA: Insights</vt:lpstr>
      <vt:lpstr>EDA: Brainstorm</vt:lpstr>
      <vt:lpstr>EDA: Projeção de Resultados*</vt:lpstr>
      <vt:lpstr>EDA: Potencial  de Impacto</vt:lpstr>
      <vt:lpstr>EDA: Base Técnica</vt:lpstr>
      <vt:lpstr>Modelo de Clusterização: K-means</vt:lpstr>
      <vt:lpstr>Modelo de Clusterização: Estatística</vt:lpstr>
      <vt:lpstr>Modelo de Clusterização: Clusters</vt:lpstr>
      <vt:lpstr>Modelo de Classificação: Seleção</vt:lpstr>
      <vt:lpstr>Modelo de Classificação: Otimização</vt:lpstr>
      <vt:lpstr>Overfitting</vt:lpstr>
      <vt:lpstr>Deploy em Produção</vt:lpstr>
      <vt:lpstr>Conclusão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Resende</dc:creator>
  <cp:lastModifiedBy>Matheus Resende</cp:lastModifiedBy>
  <cp:revision>166</cp:revision>
  <dcterms:created xsi:type="dcterms:W3CDTF">2024-09-30T22:35:54Z</dcterms:created>
  <dcterms:modified xsi:type="dcterms:W3CDTF">2025-12-05T12:06:06Z</dcterms:modified>
</cp:coreProperties>
</file>